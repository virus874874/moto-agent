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E0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59" d="100"/>
          <a:sy n="59" d="100"/>
        </p:scale>
        <p:origin x="84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49CAA-8B29-4A8C-8FF7-F1E5FC4259E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4CB7B-D3BB-4FC0-9339-5955E464FA5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01140-58A3-497C-ABBC-9C3DE7532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3E46CB-3552-4A55-A59E-B279F17598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E0883-1C6F-4026-B0BA-F99C09A0363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55975-441F-49C7-B62B-54AAA0AFD9A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EC4EED-AE49-40FE-82D8-B9EE54B76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endParaRPr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6DD2AF-2B1B-4CEA-9716-F964EB758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E06DB-FC63-440E-AD8E-17DA82E4FDF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33F9B-FFE4-4015-B6DD-B401909AEF0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44052-52A4-4AA7-B1A6-000C34A0F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E2610-C8B1-4E70-A42C-622E6F60502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D33A6-C7FB-438E-8285-39036E59AC7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58C2C-3D3D-46CE-8F0B-73C2A9125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/>
            </a:lvl1pPr>
          </a:lstStyle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F63B9-4447-43BC-B17D-F25743469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CE8E8-C97F-4276-B9D6-500533DCFCF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62FFE-B50E-41A2-BBFD-E472BFF1775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6591D-AEB5-411B-92DB-878610ED8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2791E0-69C9-4638-A010-BA1B1066FB5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003E15-84C0-4719-A569-9FD4396555C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CF6C7-F644-448D-9FF1-C88342165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7C058-1598-4A62-910E-EEA19D663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endParaRPr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6C07AF-483D-401F-91B3-04B1F15A13E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endParaRPr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D3997D-8E18-4934-90EE-1EBB518596C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CB92E3-CEFC-4ADC-ABF1-5BA64228A25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C510B-15D6-438F-9797-CBC7A4A91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EE1227-7C7F-49E7-8B9E-B8F9D558EA9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FF53B8-10A4-4FBA-87C0-FA70390CE85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A91EE5-D01E-4EB2-BF38-41E3107490D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36F245-F26B-434E-A240-4ADDECA076E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F781F-B3B3-4D70-8508-E9FB5A561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26A37B-F0D7-43C0-A7DA-4FBF41B8BA0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249F21-EA45-4A86-81E9-DE1115540E6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D0807A-BD3F-4F28-A9FB-8921716351A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12E6D-0348-4A85-8A10-5D0F40372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endParaRPr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7D019E-2F37-4B4D-A330-3CA460B0A5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15B2D2-0B46-474A-A2B7-FCF890E0C33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322020-93C7-4353-851A-39492D7D3E5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3A89F7-C43B-4012-A20E-6661239174C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D93F8C-3055-4BF8-B1EF-1784135D6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D37A00-F405-4913-B659-D28F5A490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A10FE-8074-4175-8798-2E754FA59D8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EC07F-03C1-4419-9607-B5170594C9D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ACAE3-DD0B-44CE-A12B-657FA04CD17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9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-50">
            <a:extLst>
              <a:ext uri="{FF2B5EF4-FFF2-40B4-BE49-F238E27FC236}">
                <a16:creationId xmlns:a16="http://schemas.microsoft.com/office/drawing/2014/main" id="{A4E4DB0C-F5BC-485A-8E77-CBEBB96F9CB0}"/>
              </a:ext>
            </a:extLst>
          </p:cNvPr>
          <p:cNvSpPr>
            <a:spLocks noGrp="1"/>
          </p:cNvSpPr>
          <p:nvPr/>
        </p:nvSpPr>
        <p:spPr>
          <a:xfrm>
            <a:off x="2381250" y="5185954"/>
            <a:ext cx="11493500" cy="6985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pPr algn="ctr"/>
            <a:r>
              <a:rPr lang="en-US" sz="7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Motor Agent</a:t>
            </a:r>
          </a:p>
          <a:p>
            <a:pPr algn="ctr"/>
            <a:r>
              <a:rPr sz="34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基於</a:t>
            </a:r>
            <a:r>
              <a:rPr sz="3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ESP32 </a:t>
            </a:r>
            <a:r>
              <a:rPr sz="34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之智慧機車動態監測與安全預警系統</a:t>
            </a:r>
            <a:endParaRPr sz="3400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1" name="text-51">
            <a:extLst>
              <a:ext uri="{FF2B5EF4-FFF2-40B4-BE49-F238E27FC236}">
                <a16:creationId xmlns:a16="http://schemas.microsoft.com/office/drawing/2014/main" id="{D7DE4398-4AFE-435A-A1EE-6230E071586E}"/>
              </a:ext>
            </a:extLst>
          </p:cNvPr>
          <p:cNvSpPr>
            <a:spLocks noGrp="1"/>
          </p:cNvSpPr>
          <p:nvPr/>
        </p:nvSpPr>
        <p:spPr>
          <a:xfrm>
            <a:off x="4328659" y="6856776"/>
            <a:ext cx="7598682" cy="489268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pPr algn="ctr"/>
            <a:r>
              <a:rPr sz="2200" dirty="0">
                <a:solidFill>
                  <a:srgbClr val="B8C4C8"/>
                </a:solidFill>
                <a:latin typeface="Aptos"/>
                <a:ea typeface="Aptos"/>
                <a:cs typeface="Aptos"/>
              </a:rPr>
              <a:t>Explainable Low-Cost Motorcycle Telemetry</a:t>
            </a:r>
          </a:p>
        </p:txBody>
      </p:sp>
    </p:spTree>
    <p:extLst>
      <p:ext uri="{BB962C8B-B14F-4D97-AF65-F5344CB8AC3E}">
        <p14:creationId xmlns:p14="http://schemas.microsoft.com/office/powerpoint/2010/main" val="1282165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2">
            <a:extLst>
              <a:ext uri="{FF2B5EF4-FFF2-40B4-BE49-F238E27FC236}">
                <a16:creationId xmlns:a16="http://schemas.microsoft.com/office/drawing/2014/main" id="{2FB99EC9-489E-4FBB-9FCF-EBBF90998F26}"/>
              </a:ext>
            </a:extLst>
          </p:cNvPr>
          <p:cNvSpPr>
            <a:spLocks noGrp="1"/>
          </p:cNvSpPr>
          <p:nvPr/>
        </p:nvSpPr>
        <p:spPr>
          <a:xfrm>
            <a:off x="761999" y="558800"/>
            <a:ext cx="8003178" cy="12065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r>
              <a:rPr sz="4000" b="1" dirty="0" err="1">
                <a:solidFill>
                  <a:srgbClr val="17212A"/>
                </a:solidFill>
                <a:latin typeface="Aptos"/>
                <a:ea typeface="Aptos"/>
                <a:cs typeface="Aptos"/>
              </a:rPr>
              <a:t>為什麼需要一套</a:t>
            </a:r>
            <a:endParaRPr lang="en-US" sz="4000" b="1" dirty="0">
              <a:solidFill>
                <a:srgbClr val="17212A"/>
              </a:solidFill>
              <a:latin typeface="Aptos"/>
              <a:ea typeface="Aptos"/>
              <a:cs typeface="Aptos"/>
            </a:endParaRPr>
          </a:p>
          <a:p>
            <a:r>
              <a:rPr sz="4000" b="1" dirty="0" err="1">
                <a:solidFill>
                  <a:srgbClr val="17212A"/>
                </a:solidFill>
                <a:latin typeface="Aptos"/>
                <a:ea typeface="Aptos"/>
                <a:cs typeface="Aptos"/>
              </a:rPr>
              <a:t>低成本、可解釋的機車動態監測</a:t>
            </a:r>
            <a:r>
              <a:rPr sz="4000" b="1" dirty="0">
                <a:solidFill>
                  <a:srgbClr val="17212A"/>
                </a:solidFill>
                <a:latin typeface="Aptos"/>
                <a:ea typeface="Aptos"/>
                <a:cs typeface="Aptos"/>
              </a:rPr>
              <a:t>？</a:t>
            </a:r>
          </a:p>
        </p:txBody>
      </p:sp>
      <p:sp>
        <p:nvSpPr>
          <p:cNvPr id="10" name="roundRect-10">
            <a:extLst>
              <a:ext uri="{FF2B5EF4-FFF2-40B4-BE49-F238E27FC236}">
                <a16:creationId xmlns:a16="http://schemas.microsoft.com/office/drawing/2014/main" id="{9640A846-0599-4AA4-A84A-AF77D3AC818B}"/>
              </a:ext>
            </a:extLst>
          </p:cNvPr>
          <p:cNvSpPr>
            <a:spLocks noGrp="1"/>
          </p:cNvSpPr>
          <p:nvPr/>
        </p:nvSpPr>
        <p:spPr>
          <a:xfrm>
            <a:off x="762000" y="2609851"/>
            <a:ext cx="2222500" cy="12065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8D0D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-11">
            <a:extLst>
              <a:ext uri="{FF2B5EF4-FFF2-40B4-BE49-F238E27FC236}">
                <a16:creationId xmlns:a16="http://schemas.microsoft.com/office/drawing/2014/main" id="{1B6BE9F9-2F4E-4410-9016-0AFE8F604FAB}"/>
              </a:ext>
            </a:extLst>
          </p:cNvPr>
          <p:cNvSpPr>
            <a:spLocks noGrp="1"/>
          </p:cNvSpPr>
          <p:nvPr/>
        </p:nvSpPr>
        <p:spPr>
          <a:xfrm>
            <a:off x="889000" y="2724151"/>
            <a:ext cx="1968500" cy="2032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r>
              <a:rPr sz="2000" b="1" dirty="0" err="1">
                <a:solidFill>
                  <a:srgbClr val="17212A"/>
                </a:solidFill>
                <a:latin typeface="Aptos"/>
                <a:ea typeface="Aptos"/>
                <a:cs typeface="Aptos"/>
              </a:rPr>
              <a:t>高昂成本</a:t>
            </a:r>
            <a:endParaRPr sz="2000" b="1" dirty="0">
              <a:solidFill>
                <a:srgbClr val="1721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text-12">
            <a:extLst>
              <a:ext uri="{FF2B5EF4-FFF2-40B4-BE49-F238E27FC236}">
                <a16:creationId xmlns:a16="http://schemas.microsoft.com/office/drawing/2014/main" id="{F75C4470-B72F-4DCA-90D5-6643FF960F1E}"/>
              </a:ext>
            </a:extLst>
          </p:cNvPr>
          <p:cNvSpPr>
            <a:spLocks noGrp="1"/>
          </p:cNvSpPr>
          <p:nvPr/>
        </p:nvSpPr>
        <p:spPr>
          <a:xfrm>
            <a:off x="889000" y="2978151"/>
            <a:ext cx="1968500" cy="7747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r>
              <a:rPr sz="1300" dirty="0" err="1">
                <a:solidFill>
                  <a:srgbClr val="41515B"/>
                </a:solidFill>
                <a:latin typeface="Aptos"/>
                <a:ea typeface="Aptos"/>
                <a:cs typeface="Aptos"/>
              </a:rPr>
              <a:t>傳統感測器</a:t>
            </a:r>
            <a:r>
              <a:rPr sz="1300" dirty="0">
                <a:solidFill>
                  <a:srgbClr val="41515B"/>
                </a:solidFill>
                <a:latin typeface="Aptos"/>
                <a:ea typeface="Aptos"/>
                <a:cs typeface="Aptos"/>
              </a:rPr>
              <a:t> ECU </a:t>
            </a:r>
            <a:r>
              <a:rPr sz="1300" dirty="0" err="1">
                <a:solidFill>
                  <a:srgbClr val="41515B"/>
                </a:solidFill>
                <a:latin typeface="Aptos"/>
                <a:ea typeface="Aptos"/>
                <a:cs typeface="Aptos"/>
              </a:rPr>
              <a:t>動態監測系統價格高且生態封閉，入門門檻與維護負擔高</a:t>
            </a:r>
            <a:r>
              <a:rPr sz="1300" dirty="0">
                <a:solidFill>
                  <a:srgbClr val="41515B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20" name="roundRect-20">
            <a:extLst>
              <a:ext uri="{FF2B5EF4-FFF2-40B4-BE49-F238E27FC236}">
                <a16:creationId xmlns:a16="http://schemas.microsoft.com/office/drawing/2014/main" id="{A3B07B07-C4D3-417D-9143-8830F76A0916}"/>
              </a:ext>
            </a:extLst>
          </p:cNvPr>
          <p:cNvSpPr>
            <a:spLocks noGrp="1"/>
          </p:cNvSpPr>
          <p:nvPr/>
        </p:nvSpPr>
        <p:spPr>
          <a:xfrm>
            <a:off x="2508250" y="4127501"/>
            <a:ext cx="2222500" cy="12065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8D0D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-21">
            <a:extLst>
              <a:ext uri="{FF2B5EF4-FFF2-40B4-BE49-F238E27FC236}">
                <a16:creationId xmlns:a16="http://schemas.microsoft.com/office/drawing/2014/main" id="{EC2B7E3B-E299-4757-A848-2095E02D7093}"/>
              </a:ext>
            </a:extLst>
          </p:cNvPr>
          <p:cNvSpPr>
            <a:spLocks noGrp="1"/>
          </p:cNvSpPr>
          <p:nvPr/>
        </p:nvSpPr>
        <p:spPr>
          <a:xfrm>
            <a:off x="2635250" y="4241801"/>
            <a:ext cx="1968500" cy="2032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r>
              <a:rPr sz="2000" b="1">
                <a:solidFill>
                  <a:srgbClr val="17212A"/>
                </a:solidFill>
                <a:latin typeface="Aptos"/>
                <a:ea typeface="Aptos"/>
                <a:cs typeface="Aptos"/>
              </a:rPr>
              <a:t>雙載體驗</a:t>
            </a:r>
          </a:p>
        </p:txBody>
      </p:sp>
      <p:sp>
        <p:nvSpPr>
          <p:cNvPr id="22" name="text-22">
            <a:extLst>
              <a:ext uri="{FF2B5EF4-FFF2-40B4-BE49-F238E27FC236}">
                <a16:creationId xmlns:a16="http://schemas.microsoft.com/office/drawing/2014/main" id="{C1E0E4F4-7209-4BA0-AF3E-D51B2A407700}"/>
              </a:ext>
            </a:extLst>
          </p:cNvPr>
          <p:cNvSpPr>
            <a:spLocks noGrp="1"/>
          </p:cNvSpPr>
          <p:nvPr/>
        </p:nvSpPr>
        <p:spPr>
          <a:xfrm>
            <a:off x="2635250" y="4495801"/>
            <a:ext cx="1968500" cy="7747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r>
              <a:rPr sz="1300">
                <a:solidFill>
                  <a:srgbClr val="41515B"/>
                </a:solidFill>
                <a:latin typeface="Aptos"/>
                <a:ea typeface="Aptos"/>
                <a:cs typeface="Aptos"/>
              </a:rPr>
              <a:t>現有系統較少針對「雙載情境」的動態補償與風險感知，容易忽略重量分布變化。</a:t>
            </a:r>
          </a:p>
        </p:txBody>
      </p:sp>
      <p:sp>
        <p:nvSpPr>
          <p:cNvPr id="30" name="ellipse-30">
            <a:extLst>
              <a:ext uri="{FF2B5EF4-FFF2-40B4-BE49-F238E27FC236}">
                <a16:creationId xmlns:a16="http://schemas.microsoft.com/office/drawing/2014/main" id="{EB0DE126-C0A6-4BF2-90C9-0A89D2021698}"/>
              </a:ext>
            </a:extLst>
          </p:cNvPr>
          <p:cNvSpPr>
            <a:spLocks noGrp="1"/>
          </p:cNvSpPr>
          <p:nvPr/>
        </p:nvSpPr>
        <p:spPr>
          <a:xfrm>
            <a:off x="6876869" y="5016500"/>
            <a:ext cx="2502262" cy="2502262"/>
          </a:xfrm>
          <a:prstGeom prst="ellipse">
            <a:avLst/>
          </a:prstGeom>
          <a:solidFill>
            <a:srgbClr val="FFF5F6"/>
          </a:solidFill>
          <a:ln w="38100">
            <a:solidFill>
              <a:srgbClr val="E82D4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-31">
            <a:extLst>
              <a:ext uri="{FF2B5EF4-FFF2-40B4-BE49-F238E27FC236}">
                <a16:creationId xmlns:a16="http://schemas.microsoft.com/office/drawing/2014/main" id="{C0FE3C29-5BA5-41F1-9255-4481AC3B4AE9}"/>
              </a:ext>
            </a:extLst>
          </p:cNvPr>
          <p:cNvSpPr>
            <a:spLocks noGrp="1"/>
          </p:cNvSpPr>
          <p:nvPr/>
        </p:nvSpPr>
        <p:spPr>
          <a:xfrm>
            <a:off x="7366442" y="5631186"/>
            <a:ext cx="1523116" cy="127289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pPr algn="ctr">
              <a:buNone/>
            </a:pPr>
            <a:r>
              <a:rPr sz="4000" b="1" dirty="0" err="1">
                <a:solidFill>
                  <a:srgbClr val="E82D48"/>
                </a:solidFill>
                <a:latin typeface="Aptos"/>
                <a:ea typeface="Aptos"/>
                <a:cs typeface="Aptos"/>
              </a:rPr>
              <a:t>動態風險</a:t>
            </a:r>
            <a:endParaRPr sz="4000" b="1" dirty="0">
              <a:solidFill>
                <a:srgbClr val="E82D4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text-32">
            <a:extLst>
              <a:ext uri="{FF2B5EF4-FFF2-40B4-BE49-F238E27FC236}">
                <a16:creationId xmlns:a16="http://schemas.microsoft.com/office/drawing/2014/main" id="{73176A84-7812-4A65-9690-3AEFA8F97F12}"/>
              </a:ext>
            </a:extLst>
          </p:cNvPr>
          <p:cNvSpPr>
            <a:spLocks noGrp="1"/>
          </p:cNvSpPr>
          <p:nvPr/>
        </p:nvSpPr>
        <p:spPr>
          <a:xfrm>
            <a:off x="5509804" y="7603855"/>
            <a:ext cx="5236392" cy="4445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pPr algn="ctr">
              <a:buNone/>
            </a:pPr>
            <a:r>
              <a:rPr sz="2400" dirty="0" err="1">
                <a:solidFill>
                  <a:srgbClr val="41515B"/>
                </a:solidFill>
                <a:latin typeface="Aptos"/>
                <a:ea typeface="Aptos"/>
                <a:cs typeface="Aptos"/>
              </a:rPr>
              <a:t>騎士與乘客臨場姿態、坡度與雨天路況，會改變車輛平衡與制動距離</a:t>
            </a:r>
            <a:r>
              <a:rPr sz="2400" dirty="0">
                <a:solidFill>
                  <a:srgbClr val="41515B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40" name="line-40">
            <a:extLst>
              <a:ext uri="{FF2B5EF4-FFF2-40B4-BE49-F238E27FC236}">
                <a16:creationId xmlns:a16="http://schemas.microsoft.com/office/drawing/2014/main" id="{CC169791-8D7D-4C47-AAF6-C422575C7EA9}"/>
              </a:ext>
            </a:extLst>
          </p:cNvPr>
          <p:cNvSpPr>
            <a:spLocks noGrp="1"/>
          </p:cNvSpPr>
          <p:nvPr/>
        </p:nvSpPr>
        <p:spPr>
          <a:xfrm>
            <a:off x="5267778" y="3494134"/>
            <a:ext cx="1828076" cy="2036717"/>
          </a:xfrm>
          <a:prstGeom prst="line">
            <a:avLst/>
          </a:prstGeom>
          <a:ln w="25400">
            <a:solidFill>
              <a:srgbClr val="C8D0D2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line-41">
            <a:extLst>
              <a:ext uri="{FF2B5EF4-FFF2-40B4-BE49-F238E27FC236}">
                <a16:creationId xmlns:a16="http://schemas.microsoft.com/office/drawing/2014/main" id="{178A0ED4-113C-4654-92BA-CFFCAEA4D499}"/>
              </a:ext>
            </a:extLst>
          </p:cNvPr>
          <p:cNvSpPr>
            <a:spLocks noGrp="1"/>
          </p:cNvSpPr>
          <p:nvPr/>
        </p:nvSpPr>
        <p:spPr>
          <a:xfrm flipH="1">
            <a:off x="9160147" y="3487783"/>
            <a:ext cx="2073910" cy="2036717"/>
          </a:xfrm>
          <a:prstGeom prst="line">
            <a:avLst/>
          </a:prstGeom>
          <a:ln w="25400">
            <a:solidFill>
              <a:srgbClr val="C8D0D2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5166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2">
            <a:extLst>
              <a:ext uri="{FF2B5EF4-FFF2-40B4-BE49-F238E27FC236}">
                <a16:creationId xmlns:a16="http://schemas.microsoft.com/office/drawing/2014/main" id="{1C9CBC13-FDBA-47BC-A671-D01899FA4168}"/>
              </a:ext>
            </a:extLst>
          </p:cNvPr>
          <p:cNvSpPr>
            <a:spLocks noGrp="1"/>
          </p:cNvSpPr>
          <p:nvPr/>
        </p:nvSpPr>
        <p:spPr>
          <a:xfrm>
            <a:off x="666750" y="508000"/>
            <a:ext cx="2667000" cy="2667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r>
              <a:rPr sz="2700" b="1">
                <a:solidFill>
                  <a:srgbClr val="17212A"/>
                </a:solidFill>
                <a:latin typeface="Aptos"/>
                <a:ea typeface="Aptos"/>
                <a:cs typeface="Aptos"/>
              </a:rPr>
              <a:t>系統定位</a:t>
            </a:r>
          </a:p>
        </p:txBody>
      </p:sp>
      <p:sp>
        <p:nvSpPr>
          <p:cNvPr id="3" name="text-3">
            <a:extLst>
              <a:ext uri="{FF2B5EF4-FFF2-40B4-BE49-F238E27FC236}">
                <a16:creationId xmlns:a16="http://schemas.microsoft.com/office/drawing/2014/main" id="{6E6A1654-A112-436E-AC5B-494504588160}"/>
              </a:ext>
            </a:extLst>
          </p:cNvPr>
          <p:cNvSpPr>
            <a:spLocks noGrp="1"/>
          </p:cNvSpPr>
          <p:nvPr/>
        </p:nvSpPr>
        <p:spPr>
          <a:xfrm>
            <a:off x="666750" y="825500"/>
            <a:ext cx="2857500" cy="3683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r>
              <a:rPr sz="1700" dirty="0" err="1">
                <a:solidFill>
                  <a:srgbClr val="41515B"/>
                </a:solidFill>
                <a:latin typeface="Aptos"/>
                <a:ea typeface="Aptos"/>
                <a:cs typeface="Aptos"/>
              </a:rPr>
              <a:t>建立不依賴高階</a:t>
            </a:r>
            <a:r>
              <a:rPr sz="1700" dirty="0">
                <a:solidFill>
                  <a:srgbClr val="41515B"/>
                </a:solidFill>
                <a:latin typeface="Aptos"/>
                <a:ea typeface="Aptos"/>
                <a:cs typeface="Aptos"/>
              </a:rPr>
              <a:t> ECU </a:t>
            </a:r>
            <a:r>
              <a:rPr sz="1700" dirty="0" err="1">
                <a:solidFill>
                  <a:srgbClr val="41515B"/>
                </a:solidFill>
                <a:latin typeface="Aptos"/>
                <a:ea typeface="Aptos"/>
                <a:cs typeface="Aptos"/>
              </a:rPr>
              <a:t>的低成本、高擴充性機車動態監測系統</a:t>
            </a:r>
            <a:r>
              <a:rPr sz="1700" dirty="0">
                <a:solidFill>
                  <a:srgbClr val="41515B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4" name="text-4">
            <a:extLst>
              <a:ext uri="{FF2B5EF4-FFF2-40B4-BE49-F238E27FC236}">
                <a16:creationId xmlns:a16="http://schemas.microsoft.com/office/drawing/2014/main" id="{AC4427E1-9876-4597-8892-EFE40AD86E93}"/>
              </a:ext>
            </a:extLst>
          </p:cNvPr>
          <p:cNvSpPr>
            <a:spLocks noGrp="1"/>
          </p:cNvSpPr>
          <p:nvPr/>
        </p:nvSpPr>
        <p:spPr>
          <a:xfrm>
            <a:off x="9334500" y="508000"/>
            <a:ext cx="1778000" cy="2667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r>
              <a:rPr sz="2700" b="1">
                <a:solidFill>
                  <a:srgbClr val="17212A"/>
                </a:solidFill>
                <a:latin typeface="Aptos"/>
                <a:ea typeface="Aptos"/>
                <a:cs typeface="Aptos"/>
              </a:rPr>
              <a:t>核心價值</a:t>
            </a:r>
          </a:p>
        </p:txBody>
      </p:sp>
      <p:sp>
        <p:nvSpPr>
          <p:cNvPr id="5" name="text-5">
            <a:extLst>
              <a:ext uri="{FF2B5EF4-FFF2-40B4-BE49-F238E27FC236}">
                <a16:creationId xmlns:a16="http://schemas.microsoft.com/office/drawing/2014/main" id="{D15EDE66-AA13-43E5-B5C4-85DDAA556E8E}"/>
              </a:ext>
            </a:extLst>
          </p:cNvPr>
          <p:cNvSpPr>
            <a:spLocks noGrp="1"/>
          </p:cNvSpPr>
          <p:nvPr/>
        </p:nvSpPr>
        <p:spPr>
          <a:xfrm>
            <a:off x="9334500" y="825500"/>
            <a:ext cx="2222500" cy="3683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r>
              <a:rPr sz="1700">
                <a:solidFill>
                  <a:srgbClr val="41515B"/>
                </a:solidFill>
                <a:latin typeface="Aptos"/>
                <a:ea typeface="Aptos"/>
                <a:cs typeface="Aptos"/>
              </a:rPr>
              <a:t>結合 AI 工程的模型提示，具備可解釋性與即時安全回饋。</a:t>
            </a:r>
          </a:p>
        </p:txBody>
      </p:sp>
      <p:sp>
        <p:nvSpPr>
          <p:cNvPr id="10" name="text-10">
            <a:extLst>
              <a:ext uri="{FF2B5EF4-FFF2-40B4-BE49-F238E27FC236}">
                <a16:creationId xmlns:a16="http://schemas.microsoft.com/office/drawing/2014/main" id="{31F7B2D7-6A54-4B5B-9F05-8C69581A456A}"/>
              </a:ext>
            </a:extLst>
          </p:cNvPr>
          <p:cNvSpPr>
            <a:spLocks noGrp="1"/>
          </p:cNvSpPr>
          <p:nvPr/>
        </p:nvSpPr>
        <p:spPr>
          <a:xfrm>
            <a:off x="1845671" y="2318294"/>
            <a:ext cx="3297828" cy="4572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pPr algn="ctr">
              <a:buNone/>
            </a:pPr>
            <a:r>
              <a:rPr sz="4000" b="1" dirty="0">
                <a:solidFill>
                  <a:srgbClr val="17212A"/>
                </a:solidFill>
                <a:latin typeface="Aptos"/>
                <a:ea typeface="Aptos"/>
                <a:cs typeface="Aptos"/>
              </a:rPr>
              <a:t>[ </a:t>
            </a:r>
            <a:r>
              <a:rPr sz="4000" b="1" dirty="0" err="1">
                <a:solidFill>
                  <a:srgbClr val="17212A"/>
                </a:solidFill>
                <a:latin typeface="Aptos"/>
                <a:ea typeface="Aptos"/>
                <a:cs typeface="Aptos"/>
              </a:rPr>
              <a:t>輕量化感測</a:t>
            </a:r>
            <a:r>
              <a:rPr sz="4000" b="1" dirty="0">
                <a:solidFill>
                  <a:srgbClr val="17212A"/>
                </a:solidFill>
                <a:latin typeface="Aptos"/>
                <a:ea typeface="Aptos"/>
                <a:cs typeface="Aptos"/>
              </a:rPr>
              <a:t> ]</a:t>
            </a:r>
          </a:p>
        </p:txBody>
      </p:sp>
      <p:sp>
        <p:nvSpPr>
          <p:cNvPr id="11" name="text-11">
            <a:extLst>
              <a:ext uri="{FF2B5EF4-FFF2-40B4-BE49-F238E27FC236}">
                <a16:creationId xmlns:a16="http://schemas.microsoft.com/office/drawing/2014/main" id="{FE04DA54-ADBC-4E44-99E8-247BA43D75A3}"/>
              </a:ext>
            </a:extLst>
          </p:cNvPr>
          <p:cNvSpPr>
            <a:spLocks noGrp="1"/>
          </p:cNvSpPr>
          <p:nvPr/>
        </p:nvSpPr>
        <p:spPr>
          <a:xfrm>
            <a:off x="5335088" y="2356394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pPr algn="ctr">
              <a:buNone/>
            </a:pPr>
            <a:r>
              <a:rPr sz="4800" b="1" dirty="0">
                <a:solidFill>
                  <a:srgbClr val="17212A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12" name="text-12">
            <a:extLst>
              <a:ext uri="{FF2B5EF4-FFF2-40B4-BE49-F238E27FC236}">
                <a16:creationId xmlns:a16="http://schemas.microsoft.com/office/drawing/2014/main" id="{45755FB2-05FA-48AB-835C-63B6C4CA36DA}"/>
              </a:ext>
            </a:extLst>
          </p:cNvPr>
          <p:cNvSpPr>
            <a:spLocks noGrp="1"/>
          </p:cNvSpPr>
          <p:nvPr/>
        </p:nvSpPr>
        <p:spPr>
          <a:xfrm>
            <a:off x="6034677" y="2275477"/>
            <a:ext cx="3299823" cy="4572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pPr algn="ctr">
              <a:buNone/>
            </a:pPr>
            <a:r>
              <a:rPr sz="4000" b="1" dirty="0">
                <a:solidFill>
                  <a:srgbClr val="17212A"/>
                </a:solidFill>
                <a:latin typeface="Aptos"/>
                <a:ea typeface="Aptos"/>
                <a:cs typeface="Aptos"/>
              </a:rPr>
              <a:t>[ </a:t>
            </a:r>
            <a:r>
              <a:rPr sz="4000" b="1" dirty="0" err="1">
                <a:solidFill>
                  <a:srgbClr val="17212A"/>
                </a:solidFill>
                <a:latin typeface="Aptos"/>
                <a:ea typeface="Aptos"/>
                <a:cs typeface="Aptos"/>
              </a:rPr>
              <a:t>可解釋性</a:t>
            </a:r>
            <a:r>
              <a:rPr sz="4000" b="1" dirty="0">
                <a:solidFill>
                  <a:srgbClr val="17212A"/>
                </a:solidFill>
                <a:latin typeface="Aptos"/>
                <a:ea typeface="Aptos"/>
                <a:cs typeface="Aptos"/>
              </a:rPr>
              <a:t> AI ]</a:t>
            </a:r>
          </a:p>
        </p:txBody>
      </p:sp>
      <p:sp>
        <p:nvSpPr>
          <p:cNvPr id="13" name="text-13">
            <a:extLst>
              <a:ext uri="{FF2B5EF4-FFF2-40B4-BE49-F238E27FC236}">
                <a16:creationId xmlns:a16="http://schemas.microsoft.com/office/drawing/2014/main" id="{80F3E510-2D83-419B-A76F-E8BF07AA4CDA}"/>
              </a:ext>
            </a:extLst>
          </p:cNvPr>
          <p:cNvSpPr>
            <a:spLocks noGrp="1"/>
          </p:cNvSpPr>
          <p:nvPr/>
        </p:nvSpPr>
        <p:spPr>
          <a:xfrm>
            <a:off x="9526089" y="2275477"/>
            <a:ext cx="50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pPr algn="ctr">
              <a:buNone/>
            </a:pPr>
            <a:r>
              <a:rPr sz="4800" b="1" dirty="0">
                <a:solidFill>
                  <a:srgbClr val="17212A"/>
                </a:solidFill>
                <a:latin typeface="Aptos"/>
                <a:ea typeface="Aptos"/>
                <a:cs typeface="Aptos"/>
              </a:rPr>
              <a:t>=</a:t>
            </a:r>
          </a:p>
        </p:txBody>
      </p:sp>
      <p:sp>
        <p:nvSpPr>
          <p:cNvPr id="14" name="text-14">
            <a:extLst>
              <a:ext uri="{FF2B5EF4-FFF2-40B4-BE49-F238E27FC236}">
                <a16:creationId xmlns:a16="http://schemas.microsoft.com/office/drawing/2014/main" id="{7B6254BB-6647-4006-87D3-DEB45C35FC1F}"/>
              </a:ext>
            </a:extLst>
          </p:cNvPr>
          <p:cNvSpPr>
            <a:spLocks noGrp="1"/>
          </p:cNvSpPr>
          <p:nvPr/>
        </p:nvSpPr>
        <p:spPr>
          <a:xfrm>
            <a:off x="10225678" y="2275477"/>
            <a:ext cx="4440283" cy="4572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pPr algn="ctr">
              <a:buNone/>
            </a:pPr>
            <a:r>
              <a:rPr sz="4000" b="1" dirty="0">
                <a:solidFill>
                  <a:srgbClr val="17212A"/>
                </a:solidFill>
                <a:latin typeface="Aptos"/>
                <a:ea typeface="Aptos"/>
                <a:cs typeface="Aptos"/>
              </a:rPr>
              <a:t>[ </a:t>
            </a:r>
            <a:r>
              <a:rPr sz="4000" b="1" dirty="0" err="1">
                <a:solidFill>
                  <a:srgbClr val="17212A"/>
                </a:solidFill>
                <a:latin typeface="Aptos"/>
                <a:ea typeface="Aptos"/>
                <a:cs typeface="Aptos"/>
              </a:rPr>
              <a:t>直覺式安全預警</a:t>
            </a:r>
            <a:r>
              <a:rPr sz="4000" b="1" dirty="0">
                <a:solidFill>
                  <a:srgbClr val="17212A"/>
                </a:solidFill>
                <a:latin typeface="Aptos"/>
                <a:ea typeface="Aptos"/>
                <a:cs typeface="Aptos"/>
              </a:rPr>
              <a:t> ]</a:t>
            </a:r>
          </a:p>
        </p:txBody>
      </p:sp>
    </p:spTree>
    <p:extLst>
      <p:ext uri="{BB962C8B-B14F-4D97-AF65-F5344CB8AC3E}">
        <p14:creationId xmlns:p14="http://schemas.microsoft.com/office/powerpoint/2010/main" val="135916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2">
            <a:extLst>
              <a:ext uri="{FF2B5EF4-FFF2-40B4-BE49-F238E27FC236}">
                <a16:creationId xmlns:a16="http://schemas.microsoft.com/office/drawing/2014/main" id="{A6FE9ACF-26C1-4C99-8D5B-769D967FD4AF}"/>
              </a:ext>
            </a:extLst>
          </p:cNvPr>
          <p:cNvSpPr>
            <a:spLocks noGrp="1"/>
          </p:cNvSpPr>
          <p:nvPr/>
        </p:nvSpPr>
        <p:spPr>
          <a:xfrm>
            <a:off x="498746" y="640289"/>
            <a:ext cx="7979047" cy="122276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r>
              <a:rPr sz="3200" b="1" dirty="0" err="1">
                <a:solidFill>
                  <a:srgbClr val="17212A"/>
                </a:solidFill>
                <a:latin typeface="Aptos"/>
                <a:ea typeface="Aptos"/>
                <a:cs typeface="Aptos"/>
              </a:rPr>
              <a:t>系統架構</a:t>
            </a:r>
            <a:r>
              <a:rPr sz="3200" b="1" dirty="0">
                <a:solidFill>
                  <a:srgbClr val="17212A"/>
                </a:solidFill>
                <a:latin typeface="Aptos"/>
                <a:ea typeface="Aptos"/>
                <a:cs typeface="Aptos"/>
              </a:rPr>
              <a:t>：</a:t>
            </a:r>
            <a:endParaRPr lang="en-US" sz="3200" b="1" dirty="0">
              <a:solidFill>
                <a:srgbClr val="17212A"/>
              </a:solidFill>
              <a:latin typeface="Aptos"/>
              <a:ea typeface="Aptos"/>
              <a:cs typeface="Aptos"/>
            </a:endParaRPr>
          </a:p>
          <a:p>
            <a:r>
              <a:rPr sz="4000" b="1" dirty="0">
                <a:solidFill>
                  <a:srgbClr val="17212A"/>
                </a:solidFill>
                <a:latin typeface="Aptos"/>
                <a:ea typeface="Aptos"/>
                <a:cs typeface="Aptos"/>
              </a:rPr>
              <a:t>以 ESP32 </a:t>
            </a:r>
            <a:r>
              <a:rPr sz="4000" b="1" dirty="0" err="1">
                <a:solidFill>
                  <a:srgbClr val="17212A"/>
                </a:solidFill>
                <a:latin typeface="Aptos"/>
                <a:ea typeface="Aptos"/>
                <a:cs typeface="Aptos"/>
              </a:rPr>
              <a:t>為核心的模組化感測網路</a:t>
            </a:r>
            <a:endParaRPr sz="4000" b="1" dirty="0">
              <a:solidFill>
                <a:srgbClr val="17212A"/>
              </a:solidFill>
              <a:latin typeface="Aptos"/>
              <a:ea typeface="Aptos"/>
              <a:cs typeface="Aptos"/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58822ECD-BF93-2509-724D-E0C52F65858F}"/>
              </a:ext>
            </a:extLst>
          </p:cNvPr>
          <p:cNvGrpSpPr/>
          <p:nvPr/>
        </p:nvGrpSpPr>
        <p:grpSpPr>
          <a:xfrm>
            <a:off x="5563615" y="2635316"/>
            <a:ext cx="5128770" cy="3873367"/>
            <a:chOff x="4890441" y="2246812"/>
            <a:chExt cx="6157617" cy="4650376"/>
          </a:xfrm>
        </p:grpSpPr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9862DD3E-4CE0-4F5F-216E-E2630C978C8D}"/>
                </a:ext>
              </a:extLst>
            </p:cNvPr>
            <p:cNvGrpSpPr/>
            <p:nvPr/>
          </p:nvGrpSpPr>
          <p:grpSpPr>
            <a:xfrm>
              <a:off x="4890441" y="2246812"/>
              <a:ext cx="6157617" cy="4650376"/>
              <a:chOff x="4890441" y="2246812"/>
              <a:chExt cx="6157617" cy="4650376"/>
            </a:xfrm>
          </p:grpSpPr>
          <p:pic>
            <p:nvPicPr>
              <p:cNvPr id="4" name="圖片 3">
                <a:extLst>
                  <a:ext uri="{FF2B5EF4-FFF2-40B4-BE49-F238E27FC236}">
                    <a16:creationId xmlns:a16="http://schemas.microsoft.com/office/drawing/2014/main" id="{B1024E67-6EE8-2646-3497-6E55877A23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90441" y="2246812"/>
                <a:ext cx="6157617" cy="4650376"/>
              </a:xfrm>
              <a:prstGeom prst="rect">
                <a:avLst/>
              </a:prstGeom>
            </p:spPr>
          </p:pic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A839C784-5A02-9D58-5E25-731D33BC0F9D}"/>
                  </a:ext>
                </a:extLst>
              </p:cNvPr>
              <p:cNvSpPr/>
              <p:nvPr/>
            </p:nvSpPr>
            <p:spPr>
              <a:xfrm>
                <a:off x="5983695" y="3304903"/>
                <a:ext cx="3971108" cy="2168434"/>
              </a:xfrm>
              <a:prstGeom prst="rect">
                <a:avLst/>
              </a:prstGeom>
              <a:solidFill>
                <a:srgbClr val="D9E0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9BF26592-B1F1-F60C-4311-81FFE0D4E4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9919" b="93195" l="9919" r="89965">
                          <a14:foregroundMark x1="43829" y1="86967" x2="43829" y2="86967"/>
                          <a14:foregroundMark x1="46597" y1="93195" x2="46597" y2="93195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3519" y="2782388"/>
              <a:ext cx="2991461" cy="29914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9" name="圖片 8">
            <a:extLst>
              <a:ext uri="{FF2B5EF4-FFF2-40B4-BE49-F238E27FC236}">
                <a16:creationId xmlns:a16="http://schemas.microsoft.com/office/drawing/2014/main" id="{32A3FA3F-3B07-04BF-A56F-90A2225738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4202" y="6943894"/>
            <a:ext cx="3341769" cy="1815528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4F08FEB3-C23B-F5C9-61D1-1C748868B7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01948" y="2762584"/>
            <a:ext cx="3128898" cy="3618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20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2">
            <a:extLst>
              <a:ext uri="{FF2B5EF4-FFF2-40B4-BE49-F238E27FC236}">
                <a16:creationId xmlns:a16="http://schemas.microsoft.com/office/drawing/2014/main" id="{78FF083F-07F1-4EC4-AAC1-05E7E51D9C29}"/>
              </a:ext>
            </a:extLst>
          </p:cNvPr>
          <p:cNvSpPr>
            <a:spLocks noGrp="1"/>
          </p:cNvSpPr>
          <p:nvPr/>
        </p:nvSpPr>
        <p:spPr>
          <a:xfrm>
            <a:off x="285750" y="437512"/>
            <a:ext cx="8604069" cy="453937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r>
              <a:rPr sz="4400" b="1" dirty="0" err="1">
                <a:solidFill>
                  <a:srgbClr val="17212A"/>
                </a:solidFill>
                <a:latin typeface="Aptos"/>
                <a:ea typeface="Aptos"/>
                <a:cs typeface="Aptos"/>
              </a:rPr>
              <a:t>風險分級以可視化方式即時回饋</a:t>
            </a:r>
            <a:endParaRPr sz="4400" b="1" dirty="0">
              <a:solidFill>
                <a:srgbClr val="1721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ellipse-10">
            <a:extLst>
              <a:ext uri="{FF2B5EF4-FFF2-40B4-BE49-F238E27FC236}">
                <a16:creationId xmlns:a16="http://schemas.microsoft.com/office/drawing/2014/main" id="{142447DF-8A25-41A6-BF02-57C84C6A6398}"/>
              </a:ext>
            </a:extLst>
          </p:cNvPr>
          <p:cNvSpPr>
            <a:spLocks noGrp="1"/>
          </p:cNvSpPr>
          <p:nvPr/>
        </p:nvSpPr>
        <p:spPr>
          <a:xfrm>
            <a:off x="4757054" y="1197426"/>
            <a:ext cx="6741890" cy="6741890"/>
          </a:xfrm>
          <a:prstGeom prst="ellipse">
            <a:avLst/>
          </a:prstGeom>
          <a:solidFill>
            <a:srgbClr val="FCE2E5"/>
          </a:solidFill>
          <a:ln w="25400">
            <a:solidFill>
              <a:srgbClr val="F5A6B0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ellipse-11">
            <a:extLst>
              <a:ext uri="{FF2B5EF4-FFF2-40B4-BE49-F238E27FC236}">
                <a16:creationId xmlns:a16="http://schemas.microsoft.com/office/drawing/2014/main" id="{1A3C94C2-2409-4E89-8930-1E0CAAC81574}"/>
              </a:ext>
            </a:extLst>
          </p:cNvPr>
          <p:cNvSpPr>
            <a:spLocks noGrp="1"/>
          </p:cNvSpPr>
          <p:nvPr/>
        </p:nvSpPr>
        <p:spPr>
          <a:xfrm>
            <a:off x="5381897" y="1822269"/>
            <a:ext cx="5492204" cy="5492204"/>
          </a:xfrm>
          <a:prstGeom prst="ellipse">
            <a:avLst/>
          </a:prstGeom>
          <a:solidFill>
            <a:srgbClr val="FFF0B9"/>
          </a:solidFill>
          <a:ln w="25400">
            <a:solidFill>
              <a:srgbClr val="F3D36D"/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2" name="ellipse-12">
            <a:extLst>
              <a:ext uri="{FF2B5EF4-FFF2-40B4-BE49-F238E27FC236}">
                <a16:creationId xmlns:a16="http://schemas.microsoft.com/office/drawing/2014/main" id="{7380C451-94A1-40D9-B99C-DF7D42519973}"/>
              </a:ext>
            </a:extLst>
          </p:cNvPr>
          <p:cNvSpPr>
            <a:spLocks noGrp="1"/>
          </p:cNvSpPr>
          <p:nvPr/>
        </p:nvSpPr>
        <p:spPr>
          <a:xfrm>
            <a:off x="5962015" y="2376646"/>
            <a:ext cx="4383450" cy="4383450"/>
          </a:xfrm>
          <a:prstGeom prst="ellipse">
            <a:avLst/>
          </a:prstGeom>
          <a:solidFill>
            <a:srgbClr val="DFF6E7"/>
          </a:solidFill>
          <a:ln w="25400">
            <a:solidFill>
              <a:srgbClr val="84DCA4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ellipse-13">
            <a:extLst>
              <a:ext uri="{FF2B5EF4-FFF2-40B4-BE49-F238E27FC236}">
                <a16:creationId xmlns:a16="http://schemas.microsoft.com/office/drawing/2014/main" id="{B19963DC-D823-44C4-8234-93A4C92642A4}"/>
              </a:ext>
            </a:extLst>
          </p:cNvPr>
          <p:cNvSpPr>
            <a:spLocks noGrp="1"/>
          </p:cNvSpPr>
          <p:nvPr/>
        </p:nvSpPr>
        <p:spPr>
          <a:xfrm>
            <a:off x="6587309" y="3027680"/>
            <a:ext cx="3081382" cy="308138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41515B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-14">
            <a:extLst>
              <a:ext uri="{FF2B5EF4-FFF2-40B4-BE49-F238E27FC236}">
                <a16:creationId xmlns:a16="http://schemas.microsoft.com/office/drawing/2014/main" id="{F23EFD24-307D-4C6C-9137-E2A1AFD597ED}"/>
              </a:ext>
            </a:extLst>
          </p:cNvPr>
          <p:cNvSpPr>
            <a:spLocks noGrp="1"/>
          </p:cNvSpPr>
          <p:nvPr/>
        </p:nvSpPr>
        <p:spPr>
          <a:xfrm>
            <a:off x="6780983" y="4435383"/>
            <a:ext cx="2755719" cy="928369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pPr algn="ctr">
              <a:buNone/>
            </a:pPr>
            <a:r>
              <a:rPr sz="3200" b="1" dirty="0">
                <a:solidFill>
                  <a:srgbClr val="17212A"/>
                </a:solidFill>
                <a:latin typeface="Aptos"/>
                <a:ea typeface="Aptos"/>
                <a:cs typeface="Aptos"/>
              </a:rPr>
              <a:t>OLED</a:t>
            </a:r>
          </a:p>
          <a:p>
            <a:pPr algn="ctr">
              <a:buNone/>
            </a:pPr>
            <a:r>
              <a:rPr sz="3200" b="1" dirty="0">
                <a:solidFill>
                  <a:srgbClr val="17212A"/>
                </a:solidFill>
                <a:latin typeface="Aptos"/>
                <a:ea typeface="Aptos"/>
                <a:cs typeface="Aptos"/>
              </a:rPr>
              <a:t>85 km/h</a:t>
            </a:r>
          </a:p>
        </p:txBody>
      </p:sp>
      <p:sp>
        <p:nvSpPr>
          <p:cNvPr id="20" name="text-20">
            <a:extLst>
              <a:ext uri="{FF2B5EF4-FFF2-40B4-BE49-F238E27FC236}">
                <a16:creationId xmlns:a16="http://schemas.microsoft.com/office/drawing/2014/main" id="{CCC0E2B7-94B2-499C-A6D3-622CFB670B32}"/>
              </a:ext>
            </a:extLst>
          </p:cNvPr>
          <p:cNvSpPr>
            <a:spLocks noGrp="1"/>
          </p:cNvSpPr>
          <p:nvPr/>
        </p:nvSpPr>
        <p:spPr>
          <a:xfrm>
            <a:off x="6770914" y="4066902"/>
            <a:ext cx="2714171" cy="501469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pPr algn="ctr"/>
            <a:r>
              <a:rPr sz="2300" b="1" dirty="0" err="1">
                <a:solidFill>
                  <a:srgbClr val="17212A"/>
                </a:solidFill>
                <a:latin typeface="Aptos"/>
                <a:ea typeface="Aptos"/>
                <a:cs typeface="Aptos"/>
              </a:rPr>
              <a:t>中央視覺</a:t>
            </a:r>
            <a:endParaRPr sz="2300" b="1" dirty="0">
              <a:solidFill>
                <a:srgbClr val="1721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text-21">
            <a:extLst>
              <a:ext uri="{FF2B5EF4-FFF2-40B4-BE49-F238E27FC236}">
                <a16:creationId xmlns:a16="http://schemas.microsoft.com/office/drawing/2014/main" id="{18634D67-0C81-45ED-AF28-2AB91CEEB5A1}"/>
              </a:ext>
            </a:extLst>
          </p:cNvPr>
          <p:cNvSpPr>
            <a:spLocks noGrp="1"/>
          </p:cNvSpPr>
          <p:nvPr/>
        </p:nvSpPr>
        <p:spPr>
          <a:xfrm>
            <a:off x="696368" y="6014538"/>
            <a:ext cx="3302000" cy="43561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r>
              <a:rPr sz="1700" dirty="0" err="1">
                <a:solidFill>
                  <a:srgbClr val="41515B"/>
                </a:solidFill>
                <a:latin typeface="Aptos"/>
                <a:ea typeface="Aptos"/>
                <a:cs typeface="Aptos"/>
              </a:rPr>
              <a:t>即時顯示速度、傾角與風險等級</a:t>
            </a:r>
            <a:r>
              <a:rPr sz="1700" dirty="0">
                <a:solidFill>
                  <a:srgbClr val="41515B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22" name="text-22">
            <a:extLst>
              <a:ext uri="{FF2B5EF4-FFF2-40B4-BE49-F238E27FC236}">
                <a16:creationId xmlns:a16="http://schemas.microsoft.com/office/drawing/2014/main" id="{758F060E-43EA-4C61-B770-22A6D178AD09}"/>
              </a:ext>
            </a:extLst>
          </p:cNvPr>
          <p:cNvSpPr>
            <a:spLocks noGrp="1"/>
          </p:cNvSpPr>
          <p:nvPr/>
        </p:nvSpPr>
        <p:spPr>
          <a:xfrm>
            <a:off x="12160431" y="3087189"/>
            <a:ext cx="3057798" cy="633911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pPr algn="ctr"/>
            <a:r>
              <a:rPr sz="2300" b="1" dirty="0" err="1">
                <a:solidFill>
                  <a:srgbClr val="17212A"/>
                </a:solidFill>
                <a:latin typeface="Aptos"/>
                <a:ea typeface="Aptos"/>
                <a:cs typeface="Aptos"/>
              </a:rPr>
              <a:t>周邊視覺（直覺警示</a:t>
            </a:r>
            <a:r>
              <a:rPr sz="2300" b="1" dirty="0">
                <a:solidFill>
                  <a:srgbClr val="17212A"/>
                </a:solidFill>
                <a:latin typeface="Aptos"/>
                <a:ea typeface="Aptos"/>
                <a:cs typeface="Aptos"/>
              </a:rPr>
              <a:t>）</a:t>
            </a:r>
          </a:p>
        </p:txBody>
      </p:sp>
      <p:sp>
        <p:nvSpPr>
          <p:cNvPr id="23" name="text-23">
            <a:extLst>
              <a:ext uri="{FF2B5EF4-FFF2-40B4-BE49-F238E27FC236}">
                <a16:creationId xmlns:a16="http://schemas.microsoft.com/office/drawing/2014/main" id="{FA67FA49-F966-4242-8CEE-80DDBD2BD941}"/>
              </a:ext>
            </a:extLst>
          </p:cNvPr>
          <p:cNvSpPr>
            <a:spLocks noGrp="1"/>
          </p:cNvSpPr>
          <p:nvPr/>
        </p:nvSpPr>
        <p:spPr>
          <a:xfrm>
            <a:off x="12668248" y="6278698"/>
            <a:ext cx="2222500" cy="3429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r>
              <a:rPr sz="1700" dirty="0" err="1">
                <a:solidFill>
                  <a:srgbClr val="41515B"/>
                </a:solidFill>
                <a:latin typeface="Aptos"/>
                <a:ea typeface="Aptos"/>
                <a:cs typeface="Aptos"/>
              </a:rPr>
              <a:t>以綠、黃、紅分區提示安全狀態</a:t>
            </a:r>
            <a:r>
              <a:rPr sz="1700" dirty="0">
                <a:solidFill>
                  <a:srgbClr val="41515B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  <p:sp>
        <p:nvSpPr>
          <p:cNvPr id="24" name="text-24">
            <a:extLst>
              <a:ext uri="{FF2B5EF4-FFF2-40B4-BE49-F238E27FC236}">
                <a16:creationId xmlns:a16="http://schemas.microsoft.com/office/drawing/2014/main" id="{F57665BB-41A0-4EF1-910F-134805FA5C49}"/>
              </a:ext>
            </a:extLst>
          </p:cNvPr>
          <p:cNvSpPr>
            <a:spLocks noGrp="1"/>
          </p:cNvSpPr>
          <p:nvPr/>
        </p:nvSpPr>
        <p:spPr>
          <a:xfrm>
            <a:off x="990963" y="8033657"/>
            <a:ext cx="3270250" cy="578031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pPr algn="ctr">
              <a:buNone/>
            </a:pPr>
            <a:r>
              <a:rPr sz="2300" b="1" dirty="0" err="1">
                <a:solidFill>
                  <a:srgbClr val="17212A"/>
                </a:solidFill>
                <a:latin typeface="Aptos"/>
                <a:ea typeface="Aptos"/>
                <a:cs typeface="Aptos"/>
              </a:rPr>
              <a:t>臨界狀態（強制介入</a:t>
            </a:r>
            <a:r>
              <a:rPr sz="2300" b="1" dirty="0">
                <a:solidFill>
                  <a:srgbClr val="17212A"/>
                </a:solidFill>
                <a:latin typeface="Aptos"/>
                <a:ea typeface="Aptos"/>
                <a:cs typeface="Aptos"/>
              </a:rPr>
              <a:t>）</a:t>
            </a:r>
          </a:p>
        </p:txBody>
      </p:sp>
      <p:sp>
        <p:nvSpPr>
          <p:cNvPr id="25" name="text-25">
            <a:extLst>
              <a:ext uri="{FF2B5EF4-FFF2-40B4-BE49-F238E27FC236}">
                <a16:creationId xmlns:a16="http://schemas.microsoft.com/office/drawing/2014/main" id="{F0538744-DA7A-4B35-B93F-C0C69CAFA02B}"/>
              </a:ext>
            </a:extLst>
          </p:cNvPr>
          <p:cNvSpPr>
            <a:spLocks noGrp="1"/>
          </p:cNvSpPr>
          <p:nvPr/>
        </p:nvSpPr>
        <p:spPr>
          <a:xfrm>
            <a:off x="4444999" y="8115300"/>
            <a:ext cx="4738189" cy="414746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pPr algn="ctr">
              <a:buNone/>
            </a:pPr>
            <a:r>
              <a:rPr sz="1700" dirty="0" err="1">
                <a:solidFill>
                  <a:srgbClr val="41515B"/>
                </a:solidFill>
                <a:latin typeface="Aptos"/>
                <a:ea typeface="Aptos"/>
                <a:cs typeface="Aptos"/>
              </a:rPr>
              <a:t>低速高傾角</a:t>
            </a:r>
            <a:r>
              <a:rPr sz="1700" dirty="0">
                <a:solidFill>
                  <a:srgbClr val="41515B"/>
                </a:solidFill>
                <a:latin typeface="Aptos"/>
                <a:ea typeface="Aptos"/>
                <a:cs typeface="Aptos"/>
              </a:rPr>
              <a:t> / </a:t>
            </a:r>
            <a:r>
              <a:rPr sz="1700" dirty="0" err="1">
                <a:solidFill>
                  <a:srgbClr val="41515B"/>
                </a:solidFill>
                <a:latin typeface="Aptos"/>
                <a:ea typeface="Aptos"/>
                <a:cs typeface="Aptos"/>
              </a:rPr>
              <a:t>高振動時啟動</a:t>
            </a:r>
            <a:r>
              <a:rPr sz="1700" dirty="0">
                <a:solidFill>
                  <a:srgbClr val="41515B"/>
                </a:solidFill>
                <a:latin typeface="Aptos"/>
                <a:ea typeface="Aptos"/>
                <a:cs typeface="Aptos"/>
              </a:rPr>
              <a:t> Level 2 </a:t>
            </a:r>
            <a:r>
              <a:rPr sz="1700" dirty="0" err="1">
                <a:solidFill>
                  <a:srgbClr val="41515B"/>
                </a:solidFill>
                <a:latin typeface="Aptos"/>
                <a:ea typeface="Aptos"/>
                <a:cs typeface="Aptos"/>
              </a:rPr>
              <a:t>安全警示</a:t>
            </a:r>
            <a:r>
              <a:rPr sz="1700" dirty="0">
                <a:solidFill>
                  <a:srgbClr val="41515B"/>
                </a:solidFill>
                <a:latin typeface="Aptos"/>
                <a:ea typeface="Aptos"/>
                <a:cs typeface="Aptos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997390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2">
            <a:extLst>
              <a:ext uri="{FF2B5EF4-FFF2-40B4-BE49-F238E27FC236}">
                <a16:creationId xmlns:a16="http://schemas.microsoft.com/office/drawing/2014/main" id="{927C502F-8BE0-48BB-B176-9CDFE46776A6}"/>
              </a:ext>
            </a:extLst>
          </p:cNvPr>
          <p:cNvSpPr>
            <a:spLocks noGrp="1"/>
          </p:cNvSpPr>
          <p:nvPr/>
        </p:nvSpPr>
        <p:spPr>
          <a:xfrm>
            <a:off x="444680" y="768893"/>
            <a:ext cx="6609261" cy="720271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r>
              <a:rPr sz="3200" b="1" dirty="0" err="1">
                <a:solidFill>
                  <a:srgbClr val="17212A"/>
                </a:solidFill>
                <a:latin typeface="Aptos"/>
                <a:ea typeface="Aptos"/>
                <a:cs typeface="Aptos"/>
              </a:rPr>
              <a:t>資料處理：從原始訊號到穩定特徵</a:t>
            </a:r>
            <a:endParaRPr sz="3200" b="1" dirty="0">
              <a:solidFill>
                <a:srgbClr val="17212A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5F222CC-ABF6-23BD-D048-CDDF4F87C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085" y="2129246"/>
            <a:ext cx="14799830" cy="4885508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93A5786C-B450-E8F0-3D0B-6D41808B5940}"/>
              </a:ext>
            </a:extLst>
          </p:cNvPr>
          <p:cNvSpPr txBox="1"/>
          <p:nvPr/>
        </p:nvSpPr>
        <p:spPr>
          <a:xfrm>
            <a:off x="5463177" y="7014754"/>
            <a:ext cx="53296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b="1" dirty="0"/>
              <a:t>IMU</a:t>
            </a:r>
            <a:r>
              <a:rPr lang="zh-TW" altLang="en-US" sz="2400" b="1" dirty="0"/>
              <a:t> 互補濾波</a:t>
            </a:r>
            <a:r>
              <a:rPr lang="en-US" altLang="zh-TW" sz="2400" b="1" dirty="0"/>
              <a:t>:</a:t>
            </a:r>
            <a:r>
              <a:rPr lang="zh-TW" altLang="en-US" sz="2400" b="1" dirty="0"/>
              <a:t> </a:t>
            </a:r>
            <a:r>
              <a:rPr lang="zh-TW" altLang="en-US" sz="2400" dirty="0"/>
              <a:t>結合</a:t>
            </a:r>
            <a:r>
              <a:rPr lang="en-US" altLang="zh-TW" sz="2400" dirty="0"/>
              <a:t>GPS</a:t>
            </a:r>
            <a:r>
              <a:rPr lang="zh-TW" altLang="en-US" sz="2400" dirty="0"/>
              <a:t>實際時速和</a:t>
            </a:r>
            <a:r>
              <a:rPr lang="en-US" altLang="zh-TW" sz="2400" dirty="0"/>
              <a:t>IMU</a:t>
            </a:r>
            <a:r>
              <a:rPr lang="zh-TW" altLang="en-US" sz="2400" dirty="0"/>
              <a:t>數據，消除車體震動雜訊</a:t>
            </a:r>
            <a:endParaRPr lang="en-US" altLang="zh-TW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2400" b="1" dirty="0"/>
              <a:t>時間戳記同步</a:t>
            </a:r>
            <a:r>
              <a:rPr lang="en-US" altLang="zh-TW" sz="2400" b="1" dirty="0"/>
              <a:t>:</a:t>
            </a:r>
            <a:r>
              <a:rPr lang="zh-TW" altLang="en-US" sz="2400" dirty="0"/>
              <a:t>將</a:t>
            </a:r>
            <a:r>
              <a:rPr lang="en-US" altLang="zh-TW" sz="2400" dirty="0"/>
              <a:t>OBD2</a:t>
            </a:r>
            <a:r>
              <a:rPr lang="zh-TW" altLang="en-US" sz="2400" dirty="0"/>
              <a:t>擷取的引擎動態與</a:t>
            </a:r>
            <a:r>
              <a:rPr lang="en-US" altLang="zh-TW" sz="2400" dirty="0"/>
              <a:t>IMU</a:t>
            </a:r>
            <a:r>
              <a:rPr lang="zh-TW" altLang="en-US" sz="2400" dirty="0"/>
              <a:t>空間動態進行精準對其</a:t>
            </a:r>
          </a:p>
        </p:txBody>
      </p:sp>
    </p:spTree>
    <p:extLst>
      <p:ext uri="{BB962C8B-B14F-4D97-AF65-F5344CB8AC3E}">
        <p14:creationId xmlns:p14="http://schemas.microsoft.com/office/powerpoint/2010/main" val="1987493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2">
            <a:extLst>
              <a:ext uri="{FF2B5EF4-FFF2-40B4-BE49-F238E27FC236}">
                <a16:creationId xmlns:a16="http://schemas.microsoft.com/office/drawing/2014/main" id="{3CDFA0F0-FBDC-400B-BDEC-C22F1B56A639}"/>
              </a:ext>
            </a:extLst>
          </p:cNvPr>
          <p:cNvSpPr>
            <a:spLocks noGrp="1"/>
          </p:cNvSpPr>
          <p:nvPr/>
        </p:nvSpPr>
        <p:spPr>
          <a:xfrm>
            <a:off x="2667000" y="476250"/>
            <a:ext cx="6858000" cy="3302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pPr algn="ctr">
              <a:buNone/>
            </a:pPr>
            <a:r>
              <a:rPr sz="3200" b="1">
                <a:solidFill>
                  <a:srgbClr val="17212A"/>
                </a:solidFill>
                <a:latin typeface="Aptos"/>
                <a:ea typeface="Aptos"/>
                <a:cs typeface="Aptos"/>
              </a:rPr>
              <a:t>AI Agent 1: Payload Adaptation（單雙載自適應）</a:t>
            </a:r>
          </a:p>
        </p:txBody>
      </p:sp>
      <p:sp>
        <p:nvSpPr>
          <p:cNvPr id="3" name="text-3">
            <a:extLst>
              <a:ext uri="{FF2B5EF4-FFF2-40B4-BE49-F238E27FC236}">
                <a16:creationId xmlns:a16="http://schemas.microsoft.com/office/drawing/2014/main" id="{580EE107-E224-4C43-BF7C-C6D3F7E8EB69}"/>
              </a:ext>
            </a:extLst>
          </p:cNvPr>
          <p:cNvSpPr>
            <a:spLocks noGrp="1"/>
          </p:cNvSpPr>
          <p:nvPr/>
        </p:nvSpPr>
        <p:spPr>
          <a:xfrm>
            <a:off x="2571750" y="825500"/>
            <a:ext cx="7048500" cy="2667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pPr algn="ctr">
              <a:buNone/>
            </a:pPr>
            <a:r>
              <a:rPr sz="1800">
                <a:solidFill>
                  <a:srgbClr val="41515B"/>
                </a:solidFill>
                <a:latin typeface="Aptos"/>
                <a:ea typeface="Aptos"/>
                <a:cs typeface="Aptos"/>
              </a:rPr>
              <a:t>透過傾斜率與分析結果推論乘車動態，系統自動判斷單載狀態及早期雙載變異。</a:t>
            </a:r>
          </a:p>
        </p:txBody>
      </p:sp>
      <p:sp>
        <p:nvSpPr>
          <p:cNvPr id="10" name="ellipse-10">
            <a:extLst>
              <a:ext uri="{FF2B5EF4-FFF2-40B4-BE49-F238E27FC236}">
                <a16:creationId xmlns:a16="http://schemas.microsoft.com/office/drawing/2014/main" id="{39BF3887-D3B3-495C-9EC7-220FD6B62CB4}"/>
              </a:ext>
            </a:extLst>
          </p:cNvPr>
          <p:cNvSpPr>
            <a:spLocks noGrp="1"/>
          </p:cNvSpPr>
          <p:nvPr/>
        </p:nvSpPr>
        <p:spPr>
          <a:xfrm>
            <a:off x="1555750" y="3427413"/>
            <a:ext cx="466725" cy="466725"/>
          </a:xfrm>
          <a:prstGeom prst="ellipse">
            <a:avLst/>
          </a:prstGeom>
          <a:ln w="25400">
            <a:solidFill>
              <a:srgbClr val="6B7780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ellipse-11">
            <a:extLst>
              <a:ext uri="{FF2B5EF4-FFF2-40B4-BE49-F238E27FC236}">
                <a16:creationId xmlns:a16="http://schemas.microsoft.com/office/drawing/2014/main" id="{0BAC0BB6-E8F6-4529-85FC-36A16E5702D5}"/>
              </a:ext>
            </a:extLst>
          </p:cNvPr>
          <p:cNvSpPr>
            <a:spLocks noGrp="1"/>
          </p:cNvSpPr>
          <p:nvPr/>
        </p:nvSpPr>
        <p:spPr>
          <a:xfrm>
            <a:off x="3222625" y="3427413"/>
            <a:ext cx="466725" cy="466725"/>
          </a:xfrm>
          <a:prstGeom prst="ellipse">
            <a:avLst/>
          </a:prstGeom>
          <a:ln w="25400">
            <a:solidFill>
              <a:srgbClr val="6B7780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line-12">
            <a:extLst>
              <a:ext uri="{FF2B5EF4-FFF2-40B4-BE49-F238E27FC236}">
                <a16:creationId xmlns:a16="http://schemas.microsoft.com/office/drawing/2014/main" id="{52FBC29A-9B42-410C-B0C3-2999C95A9C5E}"/>
              </a:ext>
            </a:extLst>
          </p:cNvPr>
          <p:cNvSpPr>
            <a:spLocks noGrp="1"/>
          </p:cNvSpPr>
          <p:nvPr/>
        </p:nvSpPr>
        <p:spPr>
          <a:xfrm flipV="1">
            <a:off x="1789113" y="3160713"/>
            <a:ext cx="833438" cy="500063"/>
          </a:xfrm>
          <a:prstGeom prst="line">
            <a:avLst/>
          </a:prstGeom>
          <a:ln w="25400">
            <a:solidFill>
              <a:srgbClr val="6B7780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line-13">
            <a:extLst>
              <a:ext uri="{FF2B5EF4-FFF2-40B4-BE49-F238E27FC236}">
                <a16:creationId xmlns:a16="http://schemas.microsoft.com/office/drawing/2014/main" id="{6D85C7CF-D873-4BEB-8244-AF04546D695F}"/>
              </a:ext>
            </a:extLst>
          </p:cNvPr>
          <p:cNvSpPr>
            <a:spLocks noGrp="1"/>
          </p:cNvSpPr>
          <p:nvPr/>
        </p:nvSpPr>
        <p:spPr>
          <a:xfrm>
            <a:off x="2622550" y="3160713"/>
            <a:ext cx="833438" cy="500063"/>
          </a:xfrm>
          <a:prstGeom prst="line">
            <a:avLst/>
          </a:prstGeom>
          <a:ln w="25400">
            <a:solidFill>
              <a:srgbClr val="6B7780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line-14">
            <a:extLst>
              <a:ext uri="{FF2B5EF4-FFF2-40B4-BE49-F238E27FC236}">
                <a16:creationId xmlns:a16="http://schemas.microsoft.com/office/drawing/2014/main" id="{0BD22700-60A3-40D3-A78A-10B9273C0F79}"/>
              </a:ext>
            </a:extLst>
          </p:cNvPr>
          <p:cNvSpPr>
            <a:spLocks noGrp="1"/>
          </p:cNvSpPr>
          <p:nvPr/>
        </p:nvSpPr>
        <p:spPr>
          <a:xfrm>
            <a:off x="2035810" y="3660775"/>
            <a:ext cx="1186815" cy="6350"/>
          </a:xfrm>
          <a:prstGeom prst="line">
            <a:avLst/>
          </a:prstGeom>
          <a:ln w="25400">
            <a:solidFill>
              <a:srgbClr val="6B7780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line-15">
            <a:extLst>
              <a:ext uri="{FF2B5EF4-FFF2-40B4-BE49-F238E27FC236}">
                <a16:creationId xmlns:a16="http://schemas.microsoft.com/office/drawing/2014/main" id="{A5B8E4AC-0BF1-4E29-AB3D-D53AB6302AC8}"/>
              </a:ext>
            </a:extLst>
          </p:cNvPr>
          <p:cNvSpPr>
            <a:spLocks noGrp="1"/>
          </p:cNvSpPr>
          <p:nvPr/>
        </p:nvSpPr>
        <p:spPr>
          <a:xfrm flipV="1">
            <a:off x="2522538" y="2927350"/>
            <a:ext cx="433388" cy="266700"/>
          </a:xfrm>
          <a:prstGeom prst="line">
            <a:avLst/>
          </a:prstGeom>
          <a:ln w="25400">
            <a:solidFill>
              <a:srgbClr val="6B7780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line-16">
            <a:extLst>
              <a:ext uri="{FF2B5EF4-FFF2-40B4-BE49-F238E27FC236}">
                <a16:creationId xmlns:a16="http://schemas.microsoft.com/office/drawing/2014/main" id="{99C26F2A-DEC0-4080-8B59-0D5B24D664CD}"/>
              </a:ext>
            </a:extLst>
          </p:cNvPr>
          <p:cNvSpPr>
            <a:spLocks noGrp="1"/>
          </p:cNvSpPr>
          <p:nvPr/>
        </p:nvSpPr>
        <p:spPr>
          <a:xfrm flipV="1">
            <a:off x="2955925" y="2900680"/>
            <a:ext cx="666750" cy="26670"/>
          </a:xfrm>
          <a:prstGeom prst="line">
            <a:avLst/>
          </a:prstGeom>
          <a:ln w="25400">
            <a:solidFill>
              <a:srgbClr val="6B7780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line-17">
            <a:extLst>
              <a:ext uri="{FF2B5EF4-FFF2-40B4-BE49-F238E27FC236}">
                <a16:creationId xmlns:a16="http://schemas.microsoft.com/office/drawing/2014/main" id="{9000568C-25E1-49CB-8198-199B186C73DD}"/>
              </a:ext>
            </a:extLst>
          </p:cNvPr>
          <p:cNvSpPr>
            <a:spLocks noGrp="1"/>
          </p:cNvSpPr>
          <p:nvPr/>
        </p:nvSpPr>
        <p:spPr>
          <a:xfrm>
            <a:off x="3462655" y="3060700"/>
            <a:ext cx="226695" cy="346710"/>
          </a:xfrm>
          <a:prstGeom prst="line">
            <a:avLst/>
          </a:prstGeom>
          <a:ln w="25400">
            <a:solidFill>
              <a:srgbClr val="6B7780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line-18">
            <a:extLst>
              <a:ext uri="{FF2B5EF4-FFF2-40B4-BE49-F238E27FC236}">
                <a16:creationId xmlns:a16="http://schemas.microsoft.com/office/drawing/2014/main" id="{743EB8C9-222D-4848-B19C-E255D7495602}"/>
              </a:ext>
            </a:extLst>
          </p:cNvPr>
          <p:cNvSpPr>
            <a:spLocks noGrp="1"/>
          </p:cNvSpPr>
          <p:nvPr/>
        </p:nvSpPr>
        <p:spPr>
          <a:xfrm flipV="1">
            <a:off x="2022475" y="3074035"/>
            <a:ext cx="280035" cy="320040"/>
          </a:xfrm>
          <a:prstGeom prst="line">
            <a:avLst/>
          </a:prstGeom>
          <a:ln w="25400">
            <a:solidFill>
              <a:srgbClr val="6B7780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rect-19">
            <a:extLst>
              <a:ext uri="{FF2B5EF4-FFF2-40B4-BE49-F238E27FC236}">
                <a16:creationId xmlns:a16="http://schemas.microsoft.com/office/drawing/2014/main" id="{DF23C98B-67D4-4D40-A182-713A14A5B678}"/>
              </a:ext>
            </a:extLst>
          </p:cNvPr>
          <p:cNvSpPr>
            <a:spLocks noGrp="1"/>
          </p:cNvSpPr>
          <p:nvPr/>
        </p:nvSpPr>
        <p:spPr>
          <a:xfrm>
            <a:off x="2422525" y="3380740"/>
            <a:ext cx="466725" cy="280035"/>
          </a:xfrm>
          <a:prstGeom prst="rect">
            <a:avLst/>
          </a:prstGeom>
          <a:solidFill>
            <a:srgbClr val="E7ECEB"/>
          </a:solidFill>
          <a:ln w="25400">
            <a:solidFill>
              <a:srgbClr val="6B7780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ellipse-40">
            <a:extLst>
              <a:ext uri="{FF2B5EF4-FFF2-40B4-BE49-F238E27FC236}">
                <a16:creationId xmlns:a16="http://schemas.microsoft.com/office/drawing/2014/main" id="{7B7E215C-7AE0-4BA3-9648-469E52F4F125}"/>
              </a:ext>
            </a:extLst>
          </p:cNvPr>
          <p:cNvSpPr>
            <a:spLocks noGrp="1"/>
          </p:cNvSpPr>
          <p:nvPr/>
        </p:nvSpPr>
        <p:spPr>
          <a:xfrm>
            <a:off x="2476500" y="1981200"/>
            <a:ext cx="444500" cy="444500"/>
          </a:xfrm>
          <a:prstGeom prst="ellipse">
            <a:avLst/>
          </a:prstGeom>
          <a:solidFill>
            <a:srgbClr val="CFD5D5"/>
          </a:solidFill>
          <a:ln w="25400">
            <a:solidFill>
              <a:srgbClr val="6B7780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line-41">
            <a:extLst>
              <a:ext uri="{FF2B5EF4-FFF2-40B4-BE49-F238E27FC236}">
                <a16:creationId xmlns:a16="http://schemas.microsoft.com/office/drawing/2014/main" id="{0C31677D-02E8-49ED-A44F-B1C3D61158D9}"/>
              </a:ext>
            </a:extLst>
          </p:cNvPr>
          <p:cNvSpPr>
            <a:spLocks noGrp="1"/>
          </p:cNvSpPr>
          <p:nvPr/>
        </p:nvSpPr>
        <p:spPr>
          <a:xfrm>
            <a:off x="2698750" y="2425700"/>
            <a:ext cx="158750" cy="495300"/>
          </a:xfrm>
          <a:prstGeom prst="line">
            <a:avLst/>
          </a:prstGeom>
          <a:ln w="88900">
            <a:solidFill>
              <a:srgbClr val="6B7780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line-42">
            <a:extLst>
              <a:ext uri="{FF2B5EF4-FFF2-40B4-BE49-F238E27FC236}">
                <a16:creationId xmlns:a16="http://schemas.microsoft.com/office/drawing/2014/main" id="{975E3C50-9775-4454-958B-DB7289AD34F1}"/>
              </a:ext>
            </a:extLst>
          </p:cNvPr>
          <p:cNvSpPr>
            <a:spLocks noGrp="1"/>
          </p:cNvSpPr>
          <p:nvPr/>
        </p:nvSpPr>
        <p:spPr>
          <a:xfrm>
            <a:off x="2857500" y="2889250"/>
            <a:ext cx="317500" cy="412750"/>
          </a:xfrm>
          <a:prstGeom prst="line">
            <a:avLst/>
          </a:prstGeom>
          <a:ln w="88900">
            <a:solidFill>
              <a:srgbClr val="6B7780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line-43">
            <a:extLst>
              <a:ext uri="{FF2B5EF4-FFF2-40B4-BE49-F238E27FC236}">
                <a16:creationId xmlns:a16="http://schemas.microsoft.com/office/drawing/2014/main" id="{14163504-3391-4BE1-85E5-88AF2FFA3D31}"/>
              </a:ext>
            </a:extLst>
          </p:cNvPr>
          <p:cNvSpPr>
            <a:spLocks noGrp="1"/>
          </p:cNvSpPr>
          <p:nvPr/>
        </p:nvSpPr>
        <p:spPr>
          <a:xfrm flipH="1">
            <a:off x="2489200" y="2889250"/>
            <a:ext cx="368300" cy="412750"/>
          </a:xfrm>
          <a:prstGeom prst="line">
            <a:avLst/>
          </a:prstGeom>
          <a:ln w="88900">
            <a:solidFill>
              <a:srgbClr val="6B7780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text-50">
            <a:extLst>
              <a:ext uri="{FF2B5EF4-FFF2-40B4-BE49-F238E27FC236}">
                <a16:creationId xmlns:a16="http://schemas.microsoft.com/office/drawing/2014/main" id="{B5237016-2116-40CE-88A7-88DFC36CE6A7}"/>
              </a:ext>
            </a:extLst>
          </p:cNvPr>
          <p:cNvSpPr>
            <a:spLocks noGrp="1"/>
          </p:cNvSpPr>
          <p:nvPr/>
        </p:nvSpPr>
        <p:spPr>
          <a:xfrm>
            <a:off x="1809750" y="4984750"/>
            <a:ext cx="2286000" cy="2159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pPr algn="ctr">
              <a:buNone/>
            </a:pPr>
            <a:r>
              <a:rPr sz="2300" b="1">
                <a:solidFill>
                  <a:srgbClr val="17212A"/>
                </a:solidFill>
                <a:latin typeface="Aptos"/>
                <a:ea typeface="Aptos"/>
                <a:cs typeface="Aptos"/>
              </a:rPr>
              <a:t>單載狀態 (Single Rider)</a:t>
            </a:r>
          </a:p>
        </p:txBody>
      </p:sp>
      <p:sp>
        <p:nvSpPr>
          <p:cNvPr id="51" name="text-51">
            <a:extLst>
              <a:ext uri="{FF2B5EF4-FFF2-40B4-BE49-F238E27FC236}">
                <a16:creationId xmlns:a16="http://schemas.microsoft.com/office/drawing/2014/main" id="{2ED3F94C-9EE5-42E0-B960-2018371C0188}"/>
              </a:ext>
            </a:extLst>
          </p:cNvPr>
          <p:cNvSpPr>
            <a:spLocks noGrp="1"/>
          </p:cNvSpPr>
          <p:nvPr/>
        </p:nvSpPr>
        <p:spPr>
          <a:xfrm>
            <a:off x="1809750" y="5251450"/>
            <a:ext cx="2286000" cy="3556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pPr algn="ctr">
              <a:buNone/>
            </a:pPr>
            <a:r>
              <a:rPr sz="1700">
                <a:solidFill>
                  <a:srgbClr val="41515B"/>
                </a:solidFill>
                <a:latin typeface="Aptos"/>
                <a:ea typeface="Aptos"/>
                <a:cs typeface="Aptos"/>
              </a:rPr>
              <a:t>標準騎乘姿勢與負載，維持常規預警門檻。</a:t>
            </a:r>
          </a:p>
        </p:txBody>
      </p:sp>
      <p:sp>
        <p:nvSpPr>
          <p:cNvPr id="60" name="line-60">
            <a:extLst>
              <a:ext uri="{FF2B5EF4-FFF2-40B4-BE49-F238E27FC236}">
                <a16:creationId xmlns:a16="http://schemas.microsoft.com/office/drawing/2014/main" id="{498999F1-8C45-4DC6-A71E-C078E6E8B1FB}"/>
              </a:ext>
            </a:extLst>
          </p:cNvPr>
          <p:cNvSpPr>
            <a:spLocks noGrp="1"/>
          </p:cNvSpPr>
          <p:nvPr/>
        </p:nvSpPr>
        <p:spPr>
          <a:xfrm>
            <a:off x="6096000" y="1600200"/>
            <a:ext cx="6350" cy="3987800"/>
          </a:xfrm>
          <a:prstGeom prst="line">
            <a:avLst/>
          </a:prstGeom>
          <a:ln w="25400">
            <a:solidFill>
              <a:srgbClr val="C8D0D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ellipse-70">
            <a:extLst>
              <a:ext uri="{FF2B5EF4-FFF2-40B4-BE49-F238E27FC236}">
                <a16:creationId xmlns:a16="http://schemas.microsoft.com/office/drawing/2014/main" id="{405C3E47-3956-41E0-AB99-1851CDD6F19C}"/>
              </a:ext>
            </a:extLst>
          </p:cNvPr>
          <p:cNvSpPr>
            <a:spLocks noGrp="1"/>
          </p:cNvSpPr>
          <p:nvPr/>
        </p:nvSpPr>
        <p:spPr>
          <a:xfrm>
            <a:off x="7112000" y="3427413"/>
            <a:ext cx="466725" cy="466725"/>
          </a:xfrm>
          <a:prstGeom prst="ellipse">
            <a:avLst/>
          </a:prstGeom>
          <a:ln w="25400">
            <a:solidFill>
              <a:srgbClr val="6B7780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ellipse-71">
            <a:extLst>
              <a:ext uri="{FF2B5EF4-FFF2-40B4-BE49-F238E27FC236}">
                <a16:creationId xmlns:a16="http://schemas.microsoft.com/office/drawing/2014/main" id="{46092796-0A9F-40D0-B49A-D1414A2205D0}"/>
              </a:ext>
            </a:extLst>
          </p:cNvPr>
          <p:cNvSpPr>
            <a:spLocks noGrp="1"/>
          </p:cNvSpPr>
          <p:nvPr/>
        </p:nvSpPr>
        <p:spPr>
          <a:xfrm>
            <a:off x="8778875" y="3427413"/>
            <a:ext cx="466725" cy="466725"/>
          </a:xfrm>
          <a:prstGeom prst="ellipse">
            <a:avLst/>
          </a:prstGeom>
          <a:ln w="25400">
            <a:solidFill>
              <a:srgbClr val="6B7780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line-72">
            <a:extLst>
              <a:ext uri="{FF2B5EF4-FFF2-40B4-BE49-F238E27FC236}">
                <a16:creationId xmlns:a16="http://schemas.microsoft.com/office/drawing/2014/main" id="{CAA386A8-B6D1-4C2C-8C13-782252567B00}"/>
              </a:ext>
            </a:extLst>
          </p:cNvPr>
          <p:cNvSpPr>
            <a:spLocks noGrp="1"/>
          </p:cNvSpPr>
          <p:nvPr/>
        </p:nvSpPr>
        <p:spPr>
          <a:xfrm flipV="1">
            <a:off x="7345363" y="3160713"/>
            <a:ext cx="833438" cy="500063"/>
          </a:xfrm>
          <a:prstGeom prst="line">
            <a:avLst/>
          </a:prstGeom>
          <a:ln w="25400">
            <a:solidFill>
              <a:srgbClr val="6B7780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line-73">
            <a:extLst>
              <a:ext uri="{FF2B5EF4-FFF2-40B4-BE49-F238E27FC236}">
                <a16:creationId xmlns:a16="http://schemas.microsoft.com/office/drawing/2014/main" id="{896C79EC-253B-4A76-8961-305ACD1E987B}"/>
              </a:ext>
            </a:extLst>
          </p:cNvPr>
          <p:cNvSpPr>
            <a:spLocks noGrp="1"/>
          </p:cNvSpPr>
          <p:nvPr/>
        </p:nvSpPr>
        <p:spPr>
          <a:xfrm>
            <a:off x="8178800" y="3160713"/>
            <a:ext cx="833438" cy="500063"/>
          </a:xfrm>
          <a:prstGeom prst="line">
            <a:avLst/>
          </a:prstGeom>
          <a:ln w="25400">
            <a:solidFill>
              <a:srgbClr val="6B7780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4" name="line-74">
            <a:extLst>
              <a:ext uri="{FF2B5EF4-FFF2-40B4-BE49-F238E27FC236}">
                <a16:creationId xmlns:a16="http://schemas.microsoft.com/office/drawing/2014/main" id="{40C75271-D619-49E3-8FF7-09FAA40D1979}"/>
              </a:ext>
            </a:extLst>
          </p:cNvPr>
          <p:cNvSpPr>
            <a:spLocks noGrp="1"/>
          </p:cNvSpPr>
          <p:nvPr/>
        </p:nvSpPr>
        <p:spPr>
          <a:xfrm>
            <a:off x="7592060" y="3660775"/>
            <a:ext cx="1186815" cy="6350"/>
          </a:xfrm>
          <a:prstGeom prst="line">
            <a:avLst/>
          </a:prstGeom>
          <a:ln w="25400">
            <a:solidFill>
              <a:srgbClr val="6B7780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line-75">
            <a:extLst>
              <a:ext uri="{FF2B5EF4-FFF2-40B4-BE49-F238E27FC236}">
                <a16:creationId xmlns:a16="http://schemas.microsoft.com/office/drawing/2014/main" id="{DB0F6BAE-2EAA-406C-943D-FD5794595FC9}"/>
              </a:ext>
            </a:extLst>
          </p:cNvPr>
          <p:cNvSpPr>
            <a:spLocks noGrp="1"/>
          </p:cNvSpPr>
          <p:nvPr/>
        </p:nvSpPr>
        <p:spPr>
          <a:xfrm flipV="1">
            <a:off x="8078788" y="2927350"/>
            <a:ext cx="433388" cy="266700"/>
          </a:xfrm>
          <a:prstGeom prst="line">
            <a:avLst/>
          </a:prstGeom>
          <a:ln w="25400">
            <a:solidFill>
              <a:srgbClr val="6B7780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6" name="line-76">
            <a:extLst>
              <a:ext uri="{FF2B5EF4-FFF2-40B4-BE49-F238E27FC236}">
                <a16:creationId xmlns:a16="http://schemas.microsoft.com/office/drawing/2014/main" id="{3F281EBF-A209-41E5-845C-91584CAA401B}"/>
              </a:ext>
            </a:extLst>
          </p:cNvPr>
          <p:cNvSpPr>
            <a:spLocks noGrp="1"/>
          </p:cNvSpPr>
          <p:nvPr/>
        </p:nvSpPr>
        <p:spPr>
          <a:xfrm flipV="1">
            <a:off x="8512175" y="2900680"/>
            <a:ext cx="666750" cy="26670"/>
          </a:xfrm>
          <a:prstGeom prst="line">
            <a:avLst/>
          </a:prstGeom>
          <a:ln w="25400">
            <a:solidFill>
              <a:srgbClr val="6B7780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line-77">
            <a:extLst>
              <a:ext uri="{FF2B5EF4-FFF2-40B4-BE49-F238E27FC236}">
                <a16:creationId xmlns:a16="http://schemas.microsoft.com/office/drawing/2014/main" id="{5E863723-955C-4E7E-8215-8ADC8B818443}"/>
              </a:ext>
            </a:extLst>
          </p:cNvPr>
          <p:cNvSpPr>
            <a:spLocks noGrp="1"/>
          </p:cNvSpPr>
          <p:nvPr/>
        </p:nvSpPr>
        <p:spPr>
          <a:xfrm>
            <a:off x="9018905" y="3060700"/>
            <a:ext cx="226695" cy="346710"/>
          </a:xfrm>
          <a:prstGeom prst="line">
            <a:avLst/>
          </a:prstGeom>
          <a:ln w="25400">
            <a:solidFill>
              <a:srgbClr val="6B7780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8" name="line-78">
            <a:extLst>
              <a:ext uri="{FF2B5EF4-FFF2-40B4-BE49-F238E27FC236}">
                <a16:creationId xmlns:a16="http://schemas.microsoft.com/office/drawing/2014/main" id="{D0A9A01E-02F1-4F90-AA25-1700E98419D2}"/>
              </a:ext>
            </a:extLst>
          </p:cNvPr>
          <p:cNvSpPr>
            <a:spLocks noGrp="1"/>
          </p:cNvSpPr>
          <p:nvPr/>
        </p:nvSpPr>
        <p:spPr>
          <a:xfrm flipV="1">
            <a:off x="7578725" y="3074035"/>
            <a:ext cx="280035" cy="320040"/>
          </a:xfrm>
          <a:prstGeom prst="line">
            <a:avLst/>
          </a:prstGeom>
          <a:ln w="25400">
            <a:solidFill>
              <a:srgbClr val="6B7780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rect-79">
            <a:extLst>
              <a:ext uri="{FF2B5EF4-FFF2-40B4-BE49-F238E27FC236}">
                <a16:creationId xmlns:a16="http://schemas.microsoft.com/office/drawing/2014/main" id="{D843D5F6-870D-49CC-8888-4C31188CE640}"/>
              </a:ext>
            </a:extLst>
          </p:cNvPr>
          <p:cNvSpPr>
            <a:spLocks noGrp="1"/>
          </p:cNvSpPr>
          <p:nvPr/>
        </p:nvSpPr>
        <p:spPr>
          <a:xfrm>
            <a:off x="7978775" y="3380740"/>
            <a:ext cx="466725" cy="280035"/>
          </a:xfrm>
          <a:prstGeom prst="rect">
            <a:avLst/>
          </a:prstGeom>
          <a:solidFill>
            <a:srgbClr val="E7ECEB"/>
          </a:solidFill>
          <a:ln w="25400">
            <a:solidFill>
              <a:srgbClr val="6B7780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0" name="ellipse-100">
            <a:extLst>
              <a:ext uri="{FF2B5EF4-FFF2-40B4-BE49-F238E27FC236}">
                <a16:creationId xmlns:a16="http://schemas.microsoft.com/office/drawing/2014/main" id="{BAEDFA75-A95A-4840-B043-173CEAAD16EA}"/>
              </a:ext>
            </a:extLst>
          </p:cNvPr>
          <p:cNvSpPr>
            <a:spLocks noGrp="1"/>
          </p:cNvSpPr>
          <p:nvPr/>
        </p:nvSpPr>
        <p:spPr>
          <a:xfrm>
            <a:off x="8032750" y="1981200"/>
            <a:ext cx="444500" cy="444500"/>
          </a:xfrm>
          <a:prstGeom prst="ellipse">
            <a:avLst/>
          </a:prstGeom>
          <a:solidFill>
            <a:srgbClr val="CFD5D5"/>
          </a:solidFill>
          <a:ln w="25400">
            <a:solidFill>
              <a:srgbClr val="6B7780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1" name="line-101">
            <a:extLst>
              <a:ext uri="{FF2B5EF4-FFF2-40B4-BE49-F238E27FC236}">
                <a16:creationId xmlns:a16="http://schemas.microsoft.com/office/drawing/2014/main" id="{4483CFDA-F06D-4483-BBC3-6B1FA6E47365}"/>
              </a:ext>
            </a:extLst>
          </p:cNvPr>
          <p:cNvSpPr>
            <a:spLocks noGrp="1"/>
          </p:cNvSpPr>
          <p:nvPr/>
        </p:nvSpPr>
        <p:spPr>
          <a:xfrm>
            <a:off x="8255000" y="2425700"/>
            <a:ext cx="158750" cy="495300"/>
          </a:xfrm>
          <a:prstGeom prst="line">
            <a:avLst/>
          </a:prstGeom>
          <a:ln w="88900">
            <a:solidFill>
              <a:srgbClr val="6B7780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2" name="ellipse-102">
            <a:extLst>
              <a:ext uri="{FF2B5EF4-FFF2-40B4-BE49-F238E27FC236}">
                <a16:creationId xmlns:a16="http://schemas.microsoft.com/office/drawing/2014/main" id="{18C18FBB-8F1F-475E-8585-8D98D177BD82}"/>
              </a:ext>
            </a:extLst>
          </p:cNvPr>
          <p:cNvSpPr>
            <a:spLocks noGrp="1"/>
          </p:cNvSpPr>
          <p:nvPr/>
        </p:nvSpPr>
        <p:spPr>
          <a:xfrm>
            <a:off x="8921750" y="2082800"/>
            <a:ext cx="444500" cy="444500"/>
          </a:xfrm>
          <a:prstGeom prst="ellipse">
            <a:avLst/>
          </a:prstGeom>
          <a:solidFill>
            <a:srgbClr val="CFD5D5"/>
          </a:solidFill>
          <a:ln w="25400">
            <a:solidFill>
              <a:srgbClr val="6B7780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3" name="line-103">
            <a:extLst>
              <a:ext uri="{FF2B5EF4-FFF2-40B4-BE49-F238E27FC236}">
                <a16:creationId xmlns:a16="http://schemas.microsoft.com/office/drawing/2014/main" id="{71B8AD91-3DAA-49BF-A8F1-F7DB97C90EC5}"/>
              </a:ext>
            </a:extLst>
          </p:cNvPr>
          <p:cNvSpPr>
            <a:spLocks noGrp="1"/>
          </p:cNvSpPr>
          <p:nvPr/>
        </p:nvSpPr>
        <p:spPr>
          <a:xfrm>
            <a:off x="9144000" y="2527300"/>
            <a:ext cx="158750" cy="508000"/>
          </a:xfrm>
          <a:prstGeom prst="line">
            <a:avLst/>
          </a:prstGeom>
          <a:ln w="88900">
            <a:solidFill>
              <a:srgbClr val="6B7780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0" name="text-110">
            <a:extLst>
              <a:ext uri="{FF2B5EF4-FFF2-40B4-BE49-F238E27FC236}">
                <a16:creationId xmlns:a16="http://schemas.microsoft.com/office/drawing/2014/main" id="{D6AF1917-9E7B-4BCD-812A-2DDFA34692F9}"/>
              </a:ext>
            </a:extLst>
          </p:cNvPr>
          <p:cNvSpPr>
            <a:spLocks noGrp="1"/>
          </p:cNvSpPr>
          <p:nvPr/>
        </p:nvSpPr>
        <p:spPr>
          <a:xfrm>
            <a:off x="7048500" y="4984750"/>
            <a:ext cx="3302000" cy="2159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pPr algn="ctr">
              <a:buNone/>
            </a:pPr>
            <a:r>
              <a:rPr sz="2300" b="1">
                <a:solidFill>
                  <a:srgbClr val="17212A"/>
                </a:solidFill>
                <a:latin typeface="Aptos"/>
                <a:ea typeface="Aptos"/>
                <a:cs typeface="Aptos"/>
              </a:rPr>
              <a:t>雙載狀態 (Dual Rider / Pillion)</a:t>
            </a:r>
          </a:p>
        </p:txBody>
      </p:sp>
      <p:sp>
        <p:nvSpPr>
          <p:cNvPr id="111" name="text-111">
            <a:extLst>
              <a:ext uri="{FF2B5EF4-FFF2-40B4-BE49-F238E27FC236}">
                <a16:creationId xmlns:a16="http://schemas.microsoft.com/office/drawing/2014/main" id="{62DCA640-A7A9-45F1-889D-948D84885C2D}"/>
              </a:ext>
            </a:extLst>
          </p:cNvPr>
          <p:cNvSpPr>
            <a:spLocks noGrp="1"/>
          </p:cNvSpPr>
          <p:nvPr/>
        </p:nvSpPr>
        <p:spPr>
          <a:xfrm>
            <a:off x="7112000" y="5251450"/>
            <a:ext cx="3175000" cy="3556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pPr algn="ctr">
              <a:buNone/>
            </a:pPr>
            <a:r>
              <a:rPr sz="1700">
                <a:solidFill>
                  <a:srgbClr val="41515B"/>
                </a:solidFill>
                <a:latin typeface="Aptos"/>
                <a:ea typeface="Aptos"/>
                <a:cs typeface="Aptos"/>
              </a:rPr>
              <a:t>辨識下沉與重心偏移，自動收緊過彎傾角與煞車預警門檻。</a:t>
            </a:r>
          </a:p>
        </p:txBody>
      </p:sp>
    </p:spTree>
    <p:extLst>
      <p:ext uri="{BB962C8B-B14F-4D97-AF65-F5344CB8AC3E}">
        <p14:creationId xmlns:p14="http://schemas.microsoft.com/office/powerpoint/2010/main" val="1771452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-10">
            <a:extLst>
              <a:ext uri="{FF2B5EF4-FFF2-40B4-BE49-F238E27FC236}">
                <a16:creationId xmlns:a16="http://schemas.microsoft.com/office/drawing/2014/main" id="{93F5E924-35C4-4F0B-A4AF-9143B27BD096}"/>
              </a:ext>
            </a:extLst>
          </p:cNvPr>
          <p:cNvSpPr>
            <a:spLocks noGrp="1"/>
          </p:cNvSpPr>
          <p:nvPr/>
        </p:nvSpPr>
        <p:spPr>
          <a:xfrm>
            <a:off x="4222750" y="1587500"/>
            <a:ext cx="1787260" cy="3095625"/>
          </a:xfrm>
          <a:prstGeom prst="line">
            <a:avLst/>
          </a:prstGeom>
          <a:ln w="38100">
            <a:solidFill>
              <a:srgbClr val="20D8D5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line-11">
            <a:extLst>
              <a:ext uri="{FF2B5EF4-FFF2-40B4-BE49-F238E27FC236}">
                <a16:creationId xmlns:a16="http://schemas.microsoft.com/office/drawing/2014/main" id="{52CA02C5-1261-4B56-9A91-0F0F51C0E669}"/>
              </a:ext>
            </a:extLst>
          </p:cNvPr>
          <p:cNvSpPr>
            <a:spLocks noGrp="1"/>
          </p:cNvSpPr>
          <p:nvPr/>
        </p:nvSpPr>
        <p:spPr>
          <a:xfrm flipH="1">
            <a:off x="2435490" y="4683125"/>
            <a:ext cx="3574520" cy="6350"/>
          </a:xfrm>
          <a:prstGeom prst="line">
            <a:avLst/>
          </a:prstGeom>
          <a:ln w="38100">
            <a:solidFill>
              <a:srgbClr val="20D8D5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line-12">
            <a:extLst>
              <a:ext uri="{FF2B5EF4-FFF2-40B4-BE49-F238E27FC236}">
                <a16:creationId xmlns:a16="http://schemas.microsoft.com/office/drawing/2014/main" id="{FED74DA8-68B2-42A9-8D70-0598FBD23E0B}"/>
              </a:ext>
            </a:extLst>
          </p:cNvPr>
          <p:cNvSpPr>
            <a:spLocks noGrp="1"/>
          </p:cNvSpPr>
          <p:nvPr/>
        </p:nvSpPr>
        <p:spPr>
          <a:xfrm flipV="1">
            <a:off x="2435490" y="1587500"/>
            <a:ext cx="1787260" cy="3095625"/>
          </a:xfrm>
          <a:prstGeom prst="line">
            <a:avLst/>
          </a:prstGeom>
          <a:ln w="38100">
            <a:solidFill>
              <a:srgbClr val="20D8D5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line-13">
            <a:extLst>
              <a:ext uri="{FF2B5EF4-FFF2-40B4-BE49-F238E27FC236}">
                <a16:creationId xmlns:a16="http://schemas.microsoft.com/office/drawing/2014/main" id="{C2B2D610-EC81-4922-AD55-E6DF622D7577}"/>
              </a:ext>
            </a:extLst>
          </p:cNvPr>
          <p:cNvSpPr>
            <a:spLocks noGrp="1"/>
          </p:cNvSpPr>
          <p:nvPr/>
        </p:nvSpPr>
        <p:spPr>
          <a:xfrm>
            <a:off x="4222750" y="2247900"/>
            <a:ext cx="1215337" cy="2105025"/>
          </a:xfrm>
          <a:prstGeom prst="line">
            <a:avLst/>
          </a:prstGeom>
          <a:ln w="17780">
            <a:solidFill>
              <a:srgbClr val="C8D0D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line-14">
            <a:extLst>
              <a:ext uri="{FF2B5EF4-FFF2-40B4-BE49-F238E27FC236}">
                <a16:creationId xmlns:a16="http://schemas.microsoft.com/office/drawing/2014/main" id="{00DC4F5F-C077-411D-A177-37280466245F}"/>
              </a:ext>
            </a:extLst>
          </p:cNvPr>
          <p:cNvSpPr>
            <a:spLocks noGrp="1"/>
          </p:cNvSpPr>
          <p:nvPr/>
        </p:nvSpPr>
        <p:spPr>
          <a:xfrm flipH="1">
            <a:off x="3007413" y="4352925"/>
            <a:ext cx="2430674" cy="6350"/>
          </a:xfrm>
          <a:prstGeom prst="line">
            <a:avLst/>
          </a:prstGeom>
          <a:ln w="17780">
            <a:solidFill>
              <a:srgbClr val="C8D0D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line-15">
            <a:extLst>
              <a:ext uri="{FF2B5EF4-FFF2-40B4-BE49-F238E27FC236}">
                <a16:creationId xmlns:a16="http://schemas.microsoft.com/office/drawing/2014/main" id="{01083606-1710-4FC2-A080-45F47489E40E}"/>
              </a:ext>
            </a:extLst>
          </p:cNvPr>
          <p:cNvSpPr>
            <a:spLocks noGrp="1"/>
          </p:cNvSpPr>
          <p:nvPr/>
        </p:nvSpPr>
        <p:spPr>
          <a:xfrm flipV="1">
            <a:off x="3007413" y="2247900"/>
            <a:ext cx="1215337" cy="2105025"/>
          </a:xfrm>
          <a:prstGeom prst="line">
            <a:avLst/>
          </a:prstGeom>
          <a:ln w="17780">
            <a:solidFill>
              <a:srgbClr val="C8D0D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line-16">
            <a:extLst>
              <a:ext uri="{FF2B5EF4-FFF2-40B4-BE49-F238E27FC236}">
                <a16:creationId xmlns:a16="http://schemas.microsoft.com/office/drawing/2014/main" id="{25E595E9-6738-4DF7-BDDD-D7E6C8F21CBE}"/>
              </a:ext>
            </a:extLst>
          </p:cNvPr>
          <p:cNvSpPr>
            <a:spLocks noGrp="1"/>
          </p:cNvSpPr>
          <p:nvPr/>
        </p:nvSpPr>
        <p:spPr>
          <a:xfrm>
            <a:off x="4222750" y="2908300"/>
            <a:ext cx="643414" cy="1114425"/>
          </a:xfrm>
          <a:prstGeom prst="line">
            <a:avLst/>
          </a:prstGeom>
          <a:ln w="17780">
            <a:solidFill>
              <a:srgbClr val="C8D0D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line-17">
            <a:extLst>
              <a:ext uri="{FF2B5EF4-FFF2-40B4-BE49-F238E27FC236}">
                <a16:creationId xmlns:a16="http://schemas.microsoft.com/office/drawing/2014/main" id="{2252F54C-C226-4374-AB09-112D6A7418F2}"/>
              </a:ext>
            </a:extLst>
          </p:cNvPr>
          <p:cNvSpPr>
            <a:spLocks noGrp="1"/>
          </p:cNvSpPr>
          <p:nvPr/>
        </p:nvSpPr>
        <p:spPr>
          <a:xfrm flipH="1">
            <a:off x="3579336" y="4022725"/>
            <a:ext cx="1286827" cy="6350"/>
          </a:xfrm>
          <a:prstGeom prst="line">
            <a:avLst/>
          </a:prstGeom>
          <a:ln w="17780">
            <a:solidFill>
              <a:srgbClr val="C8D0D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line-18">
            <a:extLst>
              <a:ext uri="{FF2B5EF4-FFF2-40B4-BE49-F238E27FC236}">
                <a16:creationId xmlns:a16="http://schemas.microsoft.com/office/drawing/2014/main" id="{4A05602E-046F-4039-8562-E1FFF6B42152}"/>
              </a:ext>
            </a:extLst>
          </p:cNvPr>
          <p:cNvSpPr>
            <a:spLocks noGrp="1"/>
          </p:cNvSpPr>
          <p:nvPr/>
        </p:nvSpPr>
        <p:spPr>
          <a:xfrm flipV="1">
            <a:off x="3579336" y="2908300"/>
            <a:ext cx="643414" cy="1114425"/>
          </a:xfrm>
          <a:prstGeom prst="line">
            <a:avLst/>
          </a:prstGeom>
          <a:ln w="17780">
            <a:solidFill>
              <a:srgbClr val="C8D0D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line-19">
            <a:extLst>
              <a:ext uri="{FF2B5EF4-FFF2-40B4-BE49-F238E27FC236}">
                <a16:creationId xmlns:a16="http://schemas.microsoft.com/office/drawing/2014/main" id="{A48BD991-85DC-4574-AE8E-65E801F933DD}"/>
              </a:ext>
            </a:extLst>
          </p:cNvPr>
          <p:cNvSpPr>
            <a:spLocks noGrp="1"/>
          </p:cNvSpPr>
          <p:nvPr/>
        </p:nvSpPr>
        <p:spPr>
          <a:xfrm flipV="1">
            <a:off x="4222750" y="1587500"/>
            <a:ext cx="6350" cy="2063750"/>
          </a:xfrm>
          <a:prstGeom prst="line">
            <a:avLst/>
          </a:prstGeom>
          <a:ln w="12700">
            <a:solidFill>
              <a:srgbClr val="C8D0D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line-20">
            <a:extLst>
              <a:ext uri="{FF2B5EF4-FFF2-40B4-BE49-F238E27FC236}">
                <a16:creationId xmlns:a16="http://schemas.microsoft.com/office/drawing/2014/main" id="{73D6F28C-C8B7-411E-8DCB-EC31BBDE365A}"/>
              </a:ext>
            </a:extLst>
          </p:cNvPr>
          <p:cNvSpPr>
            <a:spLocks noGrp="1"/>
          </p:cNvSpPr>
          <p:nvPr/>
        </p:nvSpPr>
        <p:spPr>
          <a:xfrm>
            <a:off x="4222750" y="3651250"/>
            <a:ext cx="1787260" cy="1031875"/>
          </a:xfrm>
          <a:prstGeom prst="line">
            <a:avLst/>
          </a:prstGeom>
          <a:ln w="12700">
            <a:solidFill>
              <a:srgbClr val="C8D0D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line-21">
            <a:extLst>
              <a:ext uri="{FF2B5EF4-FFF2-40B4-BE49-F238E27FC236}">
                <a16:creationId xmlns:a16="http://schemas.microsoft.com/office/drawing/2014/main" id="{92E83716-F1DC-4BD2-861C-4A750C076D0F}"/>
              </a:ext>
            </a:extLst>
          </p:cNvPr>
          <p:cNvSpPr>
            <a:spLocks noGrp="1"/>
          </p:cNvSpPr>
          <p:nvPr/>
        </p:nvSpPr>
        <p:spPr>
          <a:xfrm flipH="1">
            <a:off x="2435490" y="3651250"/>
            <a:ext cx="1787260" cy="1031875"/>
          </a:xfrm>
          <a:prstGeom prst="line">
            <a:avLst/>
          </a:prstGeom>
          <a:ln w="12700">
            <a:solidFill>
              <a:srgbClr val="C8D0D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line-22">
            <a:extLst>
              <a:ext uri="{FF2B5EF4-FFF2-40B4-BE49-F238E27FC236}">
                <a16:creationId xmlns:a16="http://schemas.microsoft.com/office/drawing/2014/main" id="{79033167-0C9B-4378-8AA0-B40CC9099A97}"/>
              </a:ext>
            </a:extLst>
          </p:cNvPr>
          <p:cNvSpPr>
            <a:spLocks noGrp="1"/>
          </p:cNvSpPr>
          <p:nvPr/>
        </p:nvSpPr>
        <p:spPr>
          <a:xfrm>
            <a:off x="4222750" y="2536825"/>
            <a:ext cx="750649" cy="1547813"/>
          </a:xfrm>
          <a:prstGeom prst="line">
            <a:avLst/>
          </a:prstGeom>
          <a:ln w="38100">
            <a:solidFill>
              <a:srgbClr val="E82D4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line-23">
            <a:extLst>
              <a:ext uri="{FF2B5EF4-FFF2-40B4-BE49-F238E27FC236}">
                <a16:creationId xmlns:a16="http://schemas.microsoft.com/office/drawing/2014/main" id="{3B2F01A6-76B5-44F7-9653-A31A60FEC7E0}"/>
              </a:ext>
            </a:extLst>
          </p:cNvPr>
          <p:cNvSpPr>
            <a:spLocks noGrp="1"/>
          </p:cNvSpPr>
          <p:nvPr/>
        </p:nvSpPr>
        <p:spPr>
          <a:xfrm flipH="1">
            <a:off x="3114649" y="4084638"/>
            <a:ext cx="1858750" cy="206375"/>
          </a:xfrm>
          <a:prstGeom prst="line">
            <a:avLst/>
          </a:prstGeom>
          <a:ln w="38100">
            <a:solidFill>
              <a:srgbClr val="E82D4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line-24">
            <a:extLst>
              <a:ext uri="{FF2B5EF4-FFF2-40B4-BE49-F238E27FC236}">
                <a16:creationId xmlns:a16="http://schemas.microsoft.com/office/drawing/2014/main" id="{6DC31E76-E9A3-4744-8B00-71A3BFD103BF}"/>
              </a:ext>
            </a:extLst>
          </p:cNvPr>
          <p:cNvSpPr>
            <a:spLocks noGrp="1"/>
          </p:cNvSpPr>
          <p:nvPr/>
        </p:nvSpPr>
        <p:spPr>
          <a:xfrm flipV="1">
            <a:off x="3114649" y="2536825"/>
            <a:ext cx="1108101" cy="1754188"/>
          </a:xfrm>
          <a:prstGeom prst="line">
            <a:avLst/>
          </a:prstGeom>
          <a:ln w="38100">
            <a:solidFill>
              <a:srgbClr val="E82D4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-25">
            <a:extLst>
              <a:ext uri="{FF2B5EF4-FFF2-40B4-BE49-F238E27FC236}">
                <a16:creationId xmlns:a16="http://schemas.microsoft.com/office/drawing/2014/main" id="{FDB38DE2-ECFC-4D05-B58D-67726EEE7798}"/>
              </a:ext>
            </a:extLst>
          </p:cNvPr>
          <p:cNvSpPr>
            <a:spLocks noGrp="1"/>
          </p:cNvSpPr>
          <p:nvPr/>
        </p:nvSpPr>
        <p:spPr>
          <a:xfrm>
            <a:off x="3714750" y="1155700"/>
            <a:ext cx="1016000" cy="2413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pPr algn="ctr">
              <a:buNone/>
            </a:pPr>
            <a:r>
              <a:rPr sz="2100" b="1">
                <a:solidFill>
                  <a:srgbClr val="17212A"/>
                </a:solidFill>
                <a:latin typeface="Aptos"/>
                <a:ea typeface="Aptos"/>
                <a:cs typeface="Aptos"/>
              </a:rPr>
              <a:t>傾角容忍度</a:t>
            </a:r>
          </a:p>
        </p:txBody>
      </p:sp>
      <p:sp>
        <p:nvSpPr>
          <p:cNvPr id="26" name="text-26">
            <a:extLst>
              <a:ext uri="{FF2B5EF4-FFF2-40B4-BE49-F238E27FC236}">
                <a16:creationId xmlns:a16="http://schemas.microsoft.com/office/drawing/2014/main" id="{EE7552A9-94BF-449C-B271-974D864F0CDB}"/>
              </a:ext>
            </a:extLst>
          </p:cNvPr>
          <p:cNvSpPr>
            <a:spLocks noGrp="1"/>
          </p:cNvSpPr>
          <p:nvPr/>
        </p:nvSpPr>
        <p:spPr>
          <a:xfrm>
            <a:off x="1079500" y="4806950"/>
            <a:ext cx="1206500" cy="2413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pPr algn="ctr">
              <a:buNone/>
            </a:pPr>
            <a:r>
              <a:rPr sz="2100" b="1">
                <a:solidFill>
                  <a:srgbClr val="17212A"/>
                </a:solidFill>
                <a:latin typeface="Aptos"/>
                <a:ea typeface="Aptos"/>
                <a:cs typeface="Aptos"/>
              </a:rPr>
              <a:t>動態線韌度</a:t>
            </a:r>
          </a:p>
        </p:txBody>
      </p:sp>
      <p:sp>
        <p:nvSpPr>
          <p:cNvPr id="27" name="text-27">
            <a:extLst>
              <a:ext uri="{FF2B5EF4-FFF2-40B4-BE49-F238E27FC236}">
                <a16:creationId xmlns:a16="http://schemas.microsoft.com/office/drawing/2014/main" id="{02FFEDBB-6AE2-45BA-A87F-58483CC2927C}"/>
              </a:ext>
            </a:extLst>
          </p:cNvPr>
          <p:cNvSpPr>
            <a:spLocks noGrp="1"/>
          </p:cNvSpPr>
          <p:nvPr/>
        </p:nvSpPr>
        <p:spPr>
          <a:xfrm>
            <a:off x="6159500" y="4806950"/>
            <a:ext cx="1206500" cy="2413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pPr algn="ctr">
              <a:buNone/>
            </a:pPr>
            <a:r>
              <a:rPr sz="2100" b="1">
                <a:solidFill>
                  <a:srgbClr val="17212A"/>
                </a:solidFill>
                <a:latin typeface="Aptos"/>
                <a:ea typeface="Aptos"/>
                <a:cs typeface="Aptos"/>
              </a:rPr>
              <a:t>預警保守性</a:t>
            </a:r>
          </a:p>
        </p:txBody>
      </p:sp>
      <p:sp>
        <p:nvSpPr>
          <p:cNvPr id="60" name="text-60">
            <a:extLst>
              <a:ext uri="{FF2B5EF4-FFF2-40B4-BE49-F238E27FC236}">
                <a16:creationId xmlns:a16="http://schemas.microsoft.com/office/drawing/2014/main" id="{B9EC5B27-4A7B-4585-872E-4E43CC586870}"/>
              </a:ext>
            </a:extLst>
          </p:cNvPr>
          <p:cNvSpPr>
            <a:spLocks noGrp="1"/>
          </p:cNvSpPr>
          <p:nvPr/>
        </p:nvSpPr>
        <p:spPr>
          <a:xfrm>
            <a:off x="6508750" y="1174750"/>
            <a:ext cx="4127500" cy="6223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r>
              <a:rPr sz="3400" b="1">
                <a:solidFill>
                  <a:srgbClr val="17212A"/>
                </a:solidFill>
                <a:latin typeface="Aptos"/>
                <a:ea typeface="Aptos"/>
                <a:cs typeface="Aptos"/>
              </a:rPr>
              <a:t>AI Agent 2:</a:t>
            </a:r>
          </a:p>
          <a:p>
            <a:r>
              <a:rPr sz="3400" b="1">
                <a:solidFill>
                  <a:srgbClr val="17212A"/>
                </a:solidFill>
                <a:latin typeface="Aptos"/>
                <a:ea typeface="Aptos"/>
                <a:cs typeface="Aptos"/>
              </a:rPr>
              <a:t>Rider Profiling &amp; 情境切換</a:t>
            </a:r>
          </a:p>
        </p:txBody>
      </p:sp>
      <p:sp>
        <p:nvSpPr>
          <p:cNvPr id="61" name="line-61">
            <a:extLst>
              <a:ext uri="{FF2B5EF4-FFF2-40B4-BE49-F238E27FC236}">
                <a16:creationId xmlns:a16="http://schemas.microsoft.com/office/drawing/2014/main" id="{7B5AB0A3-05C4-4814-A60E-8149A2E5A72B}"/>
              </a:ext>
            </a:extLst>
          </p:cNvPr>
          <p:cNvSpPr>
            <a:spLocks noGrp="1"/>
          </p:cNvSpPr>
          <p:nvPr/>
        </p:nvSpPr>
        <p:spPr>
          <a:xfrm>
            <a:off x="6508750" y="2095500"/>
            <a:ext cx="6350" cy="3143250"/>
          </a:xfrm>
          <a:prstGeom prst="line">
            <a:avLst/>
          </a:prstGeom>
          <a:ln w="25400">
            <a:solidFill>
              <a:srgbClr val="C8D0D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text-70">
            <a:extLst>
              <a:ext uri="{FF2B5EF4-FFF2-40B4-BE49-F238E27FC236}">
                <a16:creationId xmlns:a16="http://schemas.microsoft.com/office/drawing/2014/main" id="{C3C6F6C4-7A7C-44CB-B14D-91B2DF52771C}"/>
              </a:ext>
            </a:extLst>
          </p:cNvPr>
          <p:cNvSpPr>
            <a:spLocks noGrp="1"/>
          </p:cNvSpPr>
          <p:nvPr/>
        </p:nvSpPr>
        <p:spPr>
          <a:xfrm>
            <a:off x="6794500" y="2222500"/>
            <a:ext cx="3556000" cy="2159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r>
              <a:rPr sz="2500" b="1">
                <a:solidFill>
                  <a:srgbClr val="17212A"/>
                </a:solidFill>
                <a:latin typeface="Aptos"/>
                <a:ea typeface="Aptos"/>
                <a:cs typeface="Aptos"/>
              </a:rPr>
              <a:t>Rider Profile Modeling</a:t>
            </a:r>
          </a:p>
        </p:txBody>
      </p:sp>
      <p:sp>
        <p:nvSpPr>
          <p:cNvPr id="71" name="text-71">
            <a:extLst>
              <a:ext uri="{FF2B5EF4-FFF2-40B4-BE49-F238E27FC236}">
                <a16:creationId xmlns:a16="http://schemas.microsoft.com/office/drawing/2014/main" id="{096015CD-5E74-4BCE-8A7B-F110EDA87718}"/>
              </a:ext>
            </a:extLst>
          </p:cNvPr>
          <p:cNvSpPr>
            <a:spLocks noGrp="1"/>
          </p:cNvSpPr>
          <p:nvPr/>
        </p:nvSpPr>
        <p:spPr>
          <a:xfrm>
            <a:off x="6794500" y="2489200"/>
            <a:ext cx="3810000" cy="4445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r>
              <a:rPr sz="1800">
                <a:solidFill>
                  <a:srgbClr val="41515B"/>
                </a:solidFill>
                <a:latin typeface="Aptos"/>
                <a:ea typeface="Aptos"/>
                <a:cs typeface="Aptos"/>
              </a:rPr>
              <a:t>長期學習不同騎士的騎乘風格，建立專屬個人的動態風險基準模型。</a:t>
            </a:r>
          </a:p>
        </p:txBody>
      </p:sp>
      <p:sp>
        <p:nvSpPr>
          <p:cNvPr id="72" name="text-72">
            <a:extLst>
              <a:ext uri="{FF2B5EF4-FFF2-40B4-BE49-F238E27FC236}">
                <a16:creationId xmlns:a16="http://schemas.microsoft.com/office/drawing/2014/main" id="{E07F15C7-E85B-49B3-A7E0-D37707016CBF}"/>
              </a:ext>
            </a:extLst>
          </p:cNvPr>
          <p:cNvSpPr>
            <a:spLocks noGrp="1"/>
          </p:cNvSpPr>
          <p:nvPr/>
        </p:nvSpPr>
        <p:spPr>
          <a:xfrm>
            <a:off x="6794500" y="3302000"/>
            <a:ext cx="3556000" cy="2159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r>
              <a:rPr sz="2500" b="1">
                <a:solidFill>
                  <a:srgbClr val="17212A"/>
                </a:solidFill>
                <a:latin typeface="Aptos"/>
                <a:ea typeface="Aptos"/>
                <a:cs typeface="Aptos"/>
              </a:rPr>
              <a:t>Sport Mode（運動模式）</a:t>
            </a:r>
          </a:p>
        </p:txBody>
      </p:sp>
      <p:sp>
        <p:nvSpPr>
          <p:cNvPr id="73" name="text-73">
            <a:extLst>
              <a:ext uri="{FF2B5EF4-FFF2-40B4-BE49-F238E27FC236}">
                <a16:creationId xmlns:a16="http://schemas.microsoft.com/office/drawing/2014/main" id="{419FAF24-04EC-4DDE-8555-CAFA9356BB82}"/>
              </a:ext>
            </a:extLst>
          </p:cNvPr>
          <p:cNvSpPr>
            <a:spLocks noGrp="1"/>
          </p:cNvSpPr>
          <p:nvPr/>
        </p:nvSpPr>
        <p:spPr>
          <a:xfrm>
            <a:off x="6794500" y="3568700"/>
            <a:ext cx="3810000" cy="4445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r>
              <a:rPr sz="1800">
                <a:solidFill>
                  <a:srgbClr val="41515B"/>
                </a:solidFill>
                <a:latin typeface="Aptos"/>
                <a:ea typeface="Aptos"/>
                <a:cs typeface="Aptos"/>
              </a:rPr>
              <a:t>針對傾角容忍度，提供更激進的動態分析與極限警示。</a:t>
            </a:r>
          </a:p>
        </p:txBody>
      </p:sp>
      <p:sp>
        <p:nvSpPr>
          <p:cNvPr id="74" name="text-74">
            <a:extLst>
              <a:ext uri="{FF2B5EF4-FFF2-40B4-BE49-F238E27FC236}">
                <a16:creationId xmlns:a16="http://schemas.microsoft.com/office/drawing/2014/main" id="{030048DB-141B-4F53-A8B9-8CB434F342C5}"/>
              </a:ext>
            </a:extLst>
          </p:cNvPr>
          <p:cNvSpPr>
            <a:spLocks noGrp="1"/>
          </p:cNvSpPr>
          <p:nvPr/>
        </p:nvSpPr>
        <p:spPr>
          <a:xfrm>
            <a:off x="6794500" y="4381500"/>
            <a:ext cx="3556000" cy="2159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r>
              <a:rPr sz="2500" b="1">
                <a:solidFill>
                  <a:srgbClr val="17212A"/>
                </a:solidFill>
                <a:latin typeface="Aptos"/>
                <a:ea typeface="Aptos"/>
                <a:cs typeface="Aptos"/>
              </a:rPr>
              <a:t>Rain Mode（雨天模式）</a:t>
            </a:r>
          </a:p>
        </p:txBody>
      </p:sp>
      <p:sp>
        <p:nvSpPr>
          <p:cNvPr id="75" name="text-75">
            <a:extLst>
              <a:ext uri="{FF2B5EF4-FFF2-40B4-BE49-F238E27FC236}">
                <a16:creationId xmlns:a16="http://schemas.microsoft.com/office/drawing/2014/main" id="{72AD2560-CB59-427D-AD47-232DAE45F2EF}"/>
              </a:ext>
            </a:extLst>
          </p:cNvPr>
          <p:cNvSpPr>
            <a:spLocks noGrp="1"/>
          </p:cNvSpPr>
          <p:nvPr/>
        </p:nvSpPr>
        <p:spPr>
          <a:xfrm>
            <a:off x="6794500" y="4648200"/>
            <a:ext cx="4064000" cy="5334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r>
              <a:rPr sz="1800">
                <a:solidFill>
                  <a:srgbClr val="41515B"/>
                </a:solidFill>
                <a:latin typeface="Aptos"/>
                <a:ea typeface="Aptos"/>
                <a:cs typeface="Aptos"/>
              </a:rPr>
              <a:t>面對低抓地力條件，主動提高預警保守性，以避免嚴格的安全門檻被忽略。</a:t>
            </a:r>
          </a:p>
        </p:txBody>
      </p:sp>
    </p:spTree>
    <p:extLst>
      <p:ext uri="{BB962C8B-B14F-4D97-AF65-F5344CB8AC3E}">
        <p14:creationId xmlns:p14="http://schemas.microsoft.com/office/powerpoint/2010/main" val="386989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Rect-10">
            <a:extLst>
              <a:ext uri="{FF2B5EF4-FFF2-40B4-BE49-F238E27FC236}">
                <a16:creationId xmlns:a16="http://schemas.microsoft.com/office/drawing/2014/main" id="{D33B6C2A-7B69-4DCE-BD97-22C5F5C792DA}"/>
              </a:ext>
            </a:extLst>
          </p:cNvPr>
          <p:cNvSpPr>
            <a:spLocks noGrp="1"/>
          </p:cNvSpPr>
          <p:nvPr/>
        </p:nvSpPr>
        <p:spPr>
          <a:xfrm>
            <a:off x="1746250" y="762000"/>
            <a:ext cx="1905000" cy="3937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8D0D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-11">
            <a:extLst>
              <a:ext uri="{FF2B5EF4-FFF2-40B4-BE49-F238E27FC236}">
                <a16:creationId xmlns:a16="http://schemas.microsoft.com/office/drawing/2014/main" id="{4D4574E1-F98E-41E8-9CEE-7C09068E2942}"/>
              </a:ext>
            </a:extLst>
          </p:cNvPr>
          <p:cNvSpPr>
            <a:spLocks noGrp="1"/>
          </p:cNvSpPr>
          <p:nvPr/>
        </p:nvSpPr>
        <p:spPr>
          <a:xfrm>
            <a:off x="1873250" y="876300"/>
            <a:ext cx="165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r>
              <a:rPr sz="1800" b="1">
                <a:solidFill>
                  <a:srgbClr val="17212A"/>
                </a:solidFill>
                <a:latin typeface="Aptos"/>
                <a:ea typeface="Aptos"/>
                <a:cs typeface="Aptos"/>
              </a:rPr>
              <a:t>傾角 &gt; 35度</a:t>
            </a:r>
          </a:p>
        </p:txBody>
      </p:sp>
      <p:sp>
        <p:nvSpPr>
          <p:cNvPr id="20" name="roundRect-20">
            <a:extLst>
              <a:ext uri="{FF2B5EF4-FFF2-40B4-BE49-F238E27FC236}">
                <a16:creationId xmlns:a16="http://schemas.microsoft.com/office/drawing/2014/main" id="{DE5AD8EC-CFFA-4205-8F44-5B5EA058152B}"/>
              </a:ext>
            </a:extLst>
          </p:cNvPr>
          <p:cNvSpPr>
            <a:spLocks noGrp="1"/>
          </p:cNvSpPr>
          <p:nvPr/>
        </p:nvSpPr>
        <p:spPr>
          <a:xfrm>
            <a:off x="4572000" y="762000"/>
            <a:ext cx="1905000" cy="3937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8D0D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-21">
            <a:extLst>
              <a:ext uri="{FF2B5EF4-FFF2-40B4-BE49-F238E27FC236}">
                <a16:creationId xmlns:a16="http://schemas.microsoft.com/office/drawing/2014/main" id="{D3C10163-8342-4B25-B077-89707604328E}"/>
              </a:ext>
            </a:extLst>
          </p:cNvPr>
          <p:cNvSpPr>
            <a:spLocks noGrp="1"/>
          </p:cNvSpPr>
          <p:nvPr/>
        </p:nvSpPr>
        <p:spPr>
          <a:xfrm>
            <a:off x="4699000" y="876300"/>
            <a:ext cx="165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r>
              <a:rPr sz="1800" b="1">
                <a:solidFill>
                  <a:srgbClr val="17212A"/>
                </a:solidFill>
                <a:latin typeface="Aptos"/>
                <a:ea typeface="Aptos"/>
                <a:cs typeface="Aptos"/>
              </a:rPr>
              <a:t>載重狀態：雙載</a:t>
            </a:r>
          </a:p>
        </p:txBody>
      </p:sp>
      <p:sp>
        <p:nvSpPr>
          <p:cNvPr id="30" name="roundRect-30">
            <a:extLst>
              <a:ext uri="{FF2B5EF4-FFF2-40B4-BE49-F238E27FC236}">
                <a16:creationId xmlns:a16="http://schemas.microsoft.com/office/drawing/2014/main" id="{51AE3D47-0CE3-4475-96C8-A4BCDBFEB774}"/>
              </a:ext>
            </a:extLst>
          </p:cNvPr>
          <p:cNvSpPr>
            <a:spLocks noGrp="1"/>
          </p:cNvSpPr>
          <p:nvPr/>
        </p:nvSpPr>
        <p:spPr>
          <a:xfrm>
            <a:off x="7397750" y="762000"/>
            <a:ext cx="1905000" cy="3937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8D0D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-31">
            <a:extLst>
              <a:ext uri="{FF2B5EF4-FFF2-40B4-BE49-F238E27FC236}">
                <a16:creationId xmlns:a16="http://schemas.microsoft.com/office/drawing/2014/main" id="{08FF9E4E-1DD1-4343-931E-947180C36B14}"/>
              </a:ext>
            </a:extLst>
          </p:cNvPr>
          <p:cNvSpPr>
            <a:spLocks noGrp="1"/>
          </p:cNvSpPr>
          <p:nvPr/>
        </p:nvSpPr>
        <p:spPr>
          <a:xfrm>
            <a:off x="7524750" y="876300"/>
            <a:ext cx="1651000" cy="2032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r>
              <a:rPr sz="1800" b="1">
                <a:solidFill>
                  <a:srgbClr val="17212A"/>
                </a:solidFill>
                <a:latin typeface="Aptos"/>
                <a:ea typeface="Aptos"/>
                <a:cs typeface="Aptos"/>
              </a:rPr>
              <a:t>環境：Rain Mode</a:t>
            </a:r>
          </a:p>
        </p:txBody>
      </p:sp>
      <p:cxnSp>
        <p:nvCxnSpPr>
          <p:cNvPr id="32" name="line-50"/>
          <p:cNvCxnSpPr/>
          <p:nvPr/>
        </p:nvCxnSpPr>
        <p:spPr>
          <a:xfrm>
            <a:off x="2698750" y="1155700"/>
            <a:ext cx="2857500" cy="889000"/>
          </a:xfrm>
          <a:prstGeom prst="line">
            <a:avLst/>
          </a:prstGeom>
          <a:ln w="25400">
            <a:solidFill>
              <a:srgbClr val="C8D0D2"/>
            </a:solidFill>
            <a:tailEnd type="triangle"/>
          </a:ln>
        </p:spPr>
      </p:cxnSp>
      <p:cxnSp>
        <p:nvCxnSpPr>
          <p:cNvPr id="33" name="line-51"/>
          <p:cNvCxnSpPr/>
          <p:nvPr/>
        </p:nvCxnSpPr>
        <p:spPr>
          <a:xfrm>
            <a:off x="5524500" y="1155700"/>
            <a:ext cx="285750" cy="889000"/>
          </a:xfrm>
          <a:prstGeom prst="line">
            <a:avLst/>
          </a:prstGeom>
          <a:ln w="25400">
            <a:solidFill>
              <a:srgbClr val="C8D0D2"/>
            </a:solidFill>
            <a:tailEnd type="triangle"/>
          </a:ln>
        </p:spPr>
      </p:cxnSp>
      <p:cxnSp>
        <p:nvCxnSpPr>
          <p:cNvPr id="34" name="line-52"/>
          <p:cNvCxnSpPr/>
          <p:nvPr/>
        </p:nvCxnSpPr>
        <p:spPr>
          <a:xfrm flipH="1">
            <a:off x="6064250" y="1155700"/>
            <a:ext cx="2286000" cy="889000"/>
          </a:xfrm>
          <a:prstGeom prst="line">
            <a:avLst/>
          </a:prstGeom>
          <a:ln w="25400">
            <a:solidFill>
              <a:srgbClr val="C8D0D2"/>
            </a:solidFill>
            <a:tailEnd type="triangle"/>
          </a:ln>
        </p:spPr>
      </p:cxnSp>
      <p:sp>
        <p:nvSpPr>
          <p:cNvPr id="60" name="hexagon-60">
            <a:extLst>
              <a:ext uri="{FF2B5EF4-FFF2-40B4-BE49-F238E27FC236}">
                <a16:creationId xmlns:a16="http://schemas.microsoft.com/office/drawing/2014/main" id="{8FA1FA74-B286-47B1-8A65-19A586B20B45}"/>
              </a:ext>
            </a:extLst>
          </p:cNvPr>
          <p:cNvSpPr>
            <a:spLocks noGrp="1"/>
          </p:cNvSpPr>
          <p:nvPr/>
        </p:nvSpPr>
        <p:spPr>
          <a:xfrm>
            <a:off x="5111750" y="2032000"/>
            <a:ext cx="1905000" cy="1555750"/>
          </a:xfrm>
          <a:prstGeom prst="hexagon">
            <a:avLst/>
          </a:prstGeom>
          <a:solidFill>
            <a:srgbClr val="F2F6F7"/>
          </a:solidFill>
          <a:ln w="38100">
            <a:solidFill>
              <a:srgbClr val="C8D0D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text-61">
            <a:extLst>
              <a:ext uri="{FF2B5EF4-FFF2-40B4-BE49-F238E27FC236}">
                <a16:creationId xmlns:a16="http://schemas.microsoft.com/office/drawing/2014/main" id="{3C767578-B7DE-4C85-B026-8669E37B74F5}"/>
              </a:ext>
            </a:extLst>
          </p:cNvPr>
          <p:cNvSpPr>
            <a:spLocks noGrp="1"/>
          </p:cNvSpPr>
          <p:nvPr/>
        </p:nvSpPr>
        <p:spPr>
          <a:xfrm>
            <a:off x="5365750" y="2489200"/>
            <a:ext cx="1397000" cy="4699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pPr algn="ctr">
              <a:buNone/>
            </a:pPr>
            <a:r>
              <a:rPr sz="2400" b="1">
                <a:solidFill>
                  <a:srgbClr val="17212A"/>
                </a:solidFill>
                <a:latin typeface="Aptos"/>
                <a:ea typeface="Aptos"/>
                <a:cs typeface="Aptos"/>
              </a:rPr>
              <a:t>推論</a:t>
            </a:r>
          </a:p>
          <a:p>
            <a:pPr algn="ctr">
              <a:buNone/>
            </a:pPr>
            <a:r>
              <a:rPr sz="2400" b="1">
                <a:solidFill>
                  <a:srgbClr val="17212A"/>
                </a:solidFill>
                <a:latin typeface="Aptos"/>
                <a:ea typeface="Aptos"/>
                <a:cs typeface="Aptos"/>
              </a:rPr>
              <a:t>(Reasoning)</a:t>
            </a:r>
          </a:p>
        </p:txBody>
      </p:sp>
      <p:sp>
        <p:nvSpPr>
          <p:cNvPr id="62" name="text-62">
            <a:extLst>
              <a:ext uri="{FF2B5EF4-FFF2-40B4-BE49-F238E27FC236}">
                <a16:creationId xmlns:a16="http://schemas.microsoft.com/office/drawing/2014/main" id="{1790EAAE-ACEB-4541-984C-A76C6989D7B7}"/>
              </a:ext>
            </a:extLst>
          </p:cNvPr>
          <p:cNvSpPr>
            <a:spLocks noGrp="1"/>
          </p:cNvSpPr>
          <p:nvPr/>
        </p:nvSpPr>
        <p:spPr>
          <a:xfrm>
            <a:off x="7175500" y="2387600"/>
            <a:ext cx="330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r>
              <a:rPr sz="1900">
                <a:solidFill>
                  <a:srgbClr val="41515B"/>
                </a:solidFill>
                <a:latin typeface="Aptos"/>
                <a:ea typeface="Aptos"/>
                <a:cs typeface="Aptos"/>
              </a:rPr>
              <a:t>AI 模型結合五軸濾波數據，判定當前抓地力極低且高傾角。</a:t>
            </a:r>
          </a:p>
        </p:txBody>
      </p:sp>
      <p:cxnSp>
        <p:nvCxnSpPr>
          <p:cNvPr id="63" name="line-70"/>
          <p:cNvCxnSpPr/>
          <p:nvPr/>
        </p:nvCxnSpPr>
        <p:spPr>
          <a:xfrm>
            <a:off x="6064250" y="3587750"/>
            <a:ext cx="6350" cy="1270000"/>
          </a:xfrm>
          <a:prstGeom prst="line">
            <a:avLst/>
          </a:prstGeom>
          <a:ln w="152400">
            <a:solidFill>
              <a:srgbClr val="E82D48"/>
            </a:solidFill>
            <a:tailEnd type="triangle"/>
          </a:ln>
        </p:spPr>
      </p:cxnSp>
      <p:sp>
        <p:nvSpPr>
          <p:cNvPr id="71" name="roundRect-71">
            <a:extLst>
              <a:ext uri="{FF2B5EF4-FFF2-40B4-BE49-F238E27FC236}">
                <a16:creationId xmlns:a16="http://schemas.microsoft.com/office/drawing/2014/main" id="{F0338CEC-1EA5-4FA9-9325-1127E1A624E7}"/>
              </a:ext>
            </a:extLst>
          </p:cNvPr>
          <p:cNvSpPr>
            <a:spLocks noGrp="1"/>
          </p:cNvSpPr>
          <p:nvPr/>
        </p:nvSpPr>
        <p:spPr>
          <a:xfrm>
            <a:off x="5556250" y="4889500"/>
            <a:ext cx="1016000" cy="469900"/>
          </a:xfrm>
          <a:prstGeom prst="roundRect">
            <a:avLst/>
          </a:prstGeom>
          <a:solidFill>
            <a:srgbClr val="E82D48"/>
          </a:solidFill>
          <a:ln w="25400">
            <a:solidFill>
              <a:srgbClr val="E82D48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text-72">
            <a:extLst>
              <a:ext uri="{FF2B5EF4-FFF2-40B4-BE49-F238E27FC236}">
                <a16:creationId xmlns:a16="http://schemas.microsoft.com/office/drawing/2014/main" id="{A19FBD2E-E21D-4D1B-8CAD-11E106393C53}"/>
              </a:ext>
            </a:extLst>
          </p:cNvPr>
          <p:cNvSpPr>
            <a:spLocks noGrp="1"/>
          </p:cNvSpPr>
          <p:nvPr/>
        </p:nvSpPr>
        <p:spPr>
          <a:xfrm>
            <a:off x="5683250" y="497205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pPr algn="ctr">
              <a:buNone/>
            </a:pPr>
            <a:r>
              <a:rPr sz="3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LED!</a:t>
            </a:r>
          </a:p>
        </p:txBody>
      </p:sp>
      <p:sp>
        <p:nvSpPr>
          <p:cNvPr id="80" name="text-80">
            <a:extLst>
              <a:ext uri="{FF2B5EF4-FFF2-40B4-BE49-F238E27FC236}">
                <a16:creationId xmlns:a16="http://schemas.microsoft.com/office/drawing/2014/main" id="{00BE50B3-27D9-4DF1-8DDE-B3CFEAC3B456}"/>
              </a:ext>
            </a:extLst>
          </p:cNvPr>
          <p:cNvSpPr>
            <a:spLocks noGrp="1"/>
          </p:cNvSpPr>
          <p:nvPr/>
        </p:nvSpPr>
        <p:spPr>
          <a:xfrm>
            <a:off x="1206500" y="5397500"/>
            <a:ext cx="3302000" cy="2667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r>
              <a:rPr sz="2800" b="1">
                <a:solidFill>
                  <a:srgbClr val="17212A"/>
                </a:solidFill>
                <a:latin typeface="Aptos"/>
                <a:ea typeface="Aptos"/>
                <a:cs typeface="Aptos"/>
              </a:rPr>
              <a:t>具備可解釋性的風險估測架構</a:t>
            </a:r>
          </a:p>
        </p:txBody>
      </p:sp>
      <p:sp>
        <p:nvSpPr>
          <p:cNvPr id="81" name="text-81">
            <a:extLst>
              <a:ext uri="{FF2B5EF4-FFF2-40B4-BE49-F238E27FC236}">
                <a16:creationId xmlns:a16="http://schemas.microsoft.com/office/drawing/2014/main" id="{9D9CC085-676D-461E-BF9E-0CE7C089CFA4}"/>
              </a:ext>
            </a:extLst>
          </p:cNvPr>
          <p:cNvSpPr>
            <a:spLocks noGrp="1"/>
          </p:cNvSpPr>
          <p:nvPr/>
        </p:nvSpPr>
        <p:spPr>
          <a:xfrm>
            <a:off x="1206500" y="5715000"/>
            <a:ext cx="3937000" cy="3683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r>
              <a:rPr sz="1800">
                <a:solidFill>
                  <a:srgbClr val="41515B"/>
                </a:solidFill>
                <a:latin typeface="Aptos"/>
                <a:ea typeface="Aptos"/>
                <a:cs typeface="Aptos"/>
              </a:rPr>
              <a:t>每一次警示皆具備可解釋性，讓騎士真正理解危險來源並建立對系統的信任。</a:t>
            </a:r>
          </a:p>
        </p:txBody>
      </p:sp>
      <p:sp>
        <p:nvSpPr>
          <p:cNvPr id="82" name="text-82">
            <a:extLst>
              <a:ext uri="{FF2B5EF4-FFF2-40B4-BE49-F238E27FC236}">
                <a16:creationId xmlns:a16="http://schemas.microsoft.com/office/drawing/2014/main" id="{6C1AE01F-E9B8-4990-BAAA-A1754AB0A33E}"/>
              </a:ext>
            </a:extLst>
          </p:cNvPr>
          <p:cNvSpPr>
            <a:spLocks noGrp="1"/>
          </p:cNvSpPr>
          <p:nvPr/>
        </p:nvSpPr>
        <p:spPr>
          <a:xfrm>
            <a:off x="7048500" y="4953000"/>
            <a:ext cx="3556000" cy="5080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r>
              <a:rPr sz="2000">
                <a:solidFill>
                  <a:srgbClr val="41515B"/>
                </a:solidFill>
                <a:latin typeface="Aptos"/>
                <a:ea typeface="Aptos"/>
                <a:cs typeface="Aptos"/>
              </a:rPr>
              <a:t>輸出 (Output)</a:t>
            </a:r>
          </a:p>
          <a:p>
            <a:r>
              <a:rPr sz="2000">
                <a:solidFill>
                  <a:srgbClr val="41515B"/>
                </a:solidFill>
                <a:latin typeface="Aptos"/>
                <a:ea typeface="Aptos"/>
                <a:cs typeface="Aptos"/>
              </a:rPr>
              <a:t>觸發 Crimson Red 連續閃爍 + 蜂鳴器 Level 2 介入</a:t>
            </a:r>
          </a:p>
        </p:txBody>
      </p:sp>
    </p:spTree>
    <p:extLst>
      <p:ext uri="{BB962C8B-B14F-4D97-AF65-F5344CB8AC3E}">
        <p14:creationId xmlns:p14="http://schemas.microsoft.com/office/powerpoint/2010/main" val="2081454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2">
            <a:extLst>
              <a:ext uri="{FF2B5EF4-FFF2-40B4-BE49-F238E27FC236}">
                <a16:creationId xmlns:a16="http://schemas.microsoft.com/office/drawing/2014/main" id="{25A5E6E1-56DA-4442-9B7F-2CBB4E83A99E}"/>
              </a:ext>
            </a:extLst>
          </p:cNvPr>
          <p:cNvSpPr>
            <a:spLocks noGrp="1"/>
          </p:cNvSpPr>
          <p:nvPr/>
        </p:nvSpPr>
        <p:spPr>
          <a:xfrm>
            <a:off x="508000" y="444500"/>
            <a:ext cx="3937000" cy="28575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r>
              <a:rPr sz="2800" b="1">
                <a:solidFill>
                  <a:srgbClr val="17212A"/>
                </a:solidFill>
                <a:latin typeface="Aptos"/>
                <a:ea typeface="Aptos"/>
                <a:cs typeface="Aptos"/>
              </a:rPr>
              <a:t>預期成果 (Expected Outcomes)</a:t>
            </a:r>
          </a:p>
        </p:txBody>
      </p:sp>
      <p:sp>
        <p:nvSpPr>
          <p:cNvPr id="10" name="line-10">
            <a:extLst>
              <a:ext uri="{FF2B5EF4-FFF2-40B4-BE49-F238E27FC236}">
                <a16:creationId xmlns:a16="http://schemas.microsoft.com/office/drawing/2014/main" id="{18DCD915-785E-452B-A550-8A274C017756}"/>
              </a:ext>
            </a:extLst>
          </p:cNvPr>
          <p:cNvSpPr>
            <a:spLocks noGrp="1"/>
          </p:cNvSpPr>
          <p:nvPr/>
        </p:nvSpPr>
        <p:spPr>
          <a:xfrm>
            <a:off x="6096000" y="1257300"/>
            <a:ext cx="6350" cy="4489450"/>
          </a:xfrm>
          <a:prstGeom prst="line">
            <a:avLst/>
          </a:prstGeom>
          <a:ln w="25400">
            <a:solidFill>
              <a:srgbClr val="C8D0D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line-11">
            <a:extLst>
              <a:ext uri="{FF2B5EF4-FFF2-40B4-BE49-F238E27FC236}">
                <a16:creationId xmlns:a16="http://schemas.microsoft.com/office/drawing/2014/main" id="{A666D659-5B7F-424D-85DA-A0C874498508}"/>
              </a:ext>
            </a:extLst>
          </p:cNvPr>
          <p:cNvSpPr>
            <a:spLocks noGrp="1"/>
          </p:cNvSpPr>
          <p:nvPr/>
        </p:nvSpPr>
        <p:spPr>
          <a:xfrm>
            <a:off x="793750" y="3524250"/>
            <a:ext cx="10604500" cy="6350"/>
          </a:xfrm>
          <a:prstGeom prst="line">
            <a:avLst/>
          </a:prstGeom>
          <a:ln w="25400">
            <a:solidFill>
              <a:srgbClr val="C8D0D2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ellipse-20">
            <a:extLst>
              <a:ext uri="{FF2B5EF4-FFF2-40B4-BE49-F238E27FC236}">
                <a16:creationId xmlns:a16="http://schemas.microsoft.com/office/drawing/2014/main" id="{D0D5F9E1-FD1D-4297-ACD7-4D23B03F7DBE}"/>
              </a:ext>
            </a:extLst>
          </p:cNvPr>
          <p:cNvSpPr>
            <a:spLocks noGrp="1"/>
          </p:cNvSpPr>
          <p:nvPr/>
        </p:nvSpPr>
        <p:spPr>
          <a:xfrm>
            <a:off x="1079500" y="1676400"/>
            <a:ext cx="495300" cy="495300"/>
          </a:xfrm>
          <a:prstGeom prst="ellipse">
            <a:avLst/>
          </a:prstGeom>
          <a:ln w="25400">
            <a:solidFill>
              <a:srgbClr val="41515B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line-21">
            <a:extLst>
              <a:ext uri="{FF2B5EF4-FFF2-40B4-BE49-F238E27FC236}">
                <a16:creationId xmlns:a16="http://schemas.microsoft.com/office/drawing/2014/main" id="{89401AB4-F1B5-405E-9D5D-6D3BD1658D9C}"/>
              </a:ext>
            </a:extLst>
          </p:cNvPr>
          <p:cNvSpPr>
            <a:spLocks noGrp="1"/>
          </p:cNvSpPr>
          <p:nvPr/>
        </p:nvSpPr>
        <p:spPr>
          <a:xfrm flipV="1">
            <a:off x="1327150" y="1778000"/>
            <a:ext cx="6350" cy="146050"/>
          </a:xfrm>
          <a:prstGeom prst="line">
            <a:avLst/>
          </a:prstGeom>
          <a:ln w="25400">
            <a:solidFill>
              <a:srgbClr val="41515B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line-22">
            <a:extLst>
              <a:ext uri="{FF2B5EF4-FFF2-40B4-BE49-F238E27FC236}">
                <a16:creationId xmlns:a16="http://schemas.microsoft.com/office/drawing/2014/main" id="{205D5A50-D013-4AFA-BD40-1C83150AB26F}"/>
              </a:ext>
            </a:extLst>
          </p:cNvPr>
          <p:cNvSpPr>
            <a:spLocks noGrp="1"/>
          </p:cNvSpPr>
          <p:nvPr/>
        </p:nvSpPr>
        <p:spPr>
          <a:xfrm flipV="1">
            <a:off x="1327150" y="1873250"/>
            <a:ext cx="139700" cy="50800"/>
          </a:xfrm>
          <a:prstGeom prst="line">
            <a:avLst/>
          </a:prstGeom>
          <a:ln w="25400">
            <a:solidFill>
              <a:srgbClr val="41515B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rect-23">
            <a:extLst>
              <a:ext uri="{FF2B5EF4-FFF2-40B4-BE49-F238E27FC236}">
                <a16:creationId xmlns:a16="http://schemas.microsoft.com/office/drawing/2014/main" id="{05D804E3-C70F-432D-8F46-23FC35331CC3}"/>
              </a:ext>
            </a:extLst>
          </p:cNvPr>
          <p:cNvSpPr>
            <a:spLocks noGrp="1"/>
          </p:cNvSpPr>
          <p:nvPr/>
        </p:nvSpPr>
        <p:spPr>
          <a:xfrm>
            <a:off x="1238250" y="1600200"/>
            <a:ext cx="177800" cy="101600"/>
          </a:xfrm>
          <a:prstGeom prst="rect">
            <a:avLst/>
          </a:prstGeom>
          <a:ln w="25400">
            <a:solidFill>
              <a:srgbClr val="41515B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-30">
            <a:extLst>
              <a:ext uri="{FF2B5EF4-FFF2-40B4-BE49-F238E27FC236}">
                <a16:creationId xmlns:a16="http://schemas.microsoft.com/office/drawing/2014/main" id="{DC5C6F0E-4450-4091-8037-AA1DC268292D}"/>
              </a:ext>
            </a:extLst>
          </p:cNvPr>
          <p:cNvSpPr>
            <a:spLocks noGrp="1"/>
          </p:cNvSpPr>
          <p:nvPr/>
        </p:nvSpPr>
        <p:spPr>
          <a:xfrm>
            <a:off x="1936750" y="1682750"/>
            <a:ext cx="2857500" cy="2159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r>
              <a:rPr sz="2600" b="1">
                <a:solidFill>
                  <a:srgbClr val="17212A"/>
                </a:solidFill>
                <a:latin typeface="Aptos"/>
                <a:ea typeface="Aptos"/>
                <a:cs typeface="Aptos"/>
              </a:rPr>
              <a:t>精準零延遲</a:t>
            </a:r>
          </a:p>
        </p:txBody>
      </p:sp>
      <p:sp>
        <p:nvSpPr>
          <p:cNvPr id="31" name="text-31">
            <a:extLst>
              <a:ext uri="{FF2B5EF4-FFF2-40B4-BE49-F238E27FC236}">
                <a16:creationId xmlns:a16="http://schemas.microsoft.com/office/drawing/2014/main" id="{57DFEC68-1B6B-457A-8BBD-7651A90A00BC}"/>
              </a:ext>
            </a:extLst>
          </p:cNvPr>
          <p:cNvSpPr>
            <a:spLocks noGrp="1"/>
          </p:cNvSpPr>
          <p:nvPr/>
        </p:nvSpPr>
        <p:spPr>
          <a:xfrm>
            <a:off x="1936750" y="1968500"/>
            <a:ext cx="3302000" cy="4953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r>
              <a:rPr sz="1800">
                <a:solidFill>
                  <a:srgbClr val="41515B"/>
                </a:solidFill>
                <a:latin typeface="Aptos"/>
                <a:ea typeface="Aptos"/>
                <a:cs typeface="Aptos"/>
              </a:rPr>
              <a:t>實現 OBD2 與 IMU 數據的毫秒級同步，提升動態監測準確度與即時性。</a:t>
            </a:r>
          </a:p>
        </p:txBody>
      </p:sp>
      <p:sp>
        <p:nvSpPr>
          <p:cNvPr id="40" name="rect-40">
            <a:extLst>
              <a:ext uri="{FF2B5EF4-FFF2-40B4-BE49-F238E27FC236}">
                <a16:creationId xmlns:a16="http://schemas.microsoft.com/office/drawing/2014/main" id="{19BF911D-95B1-4F6C-B6E7-79E366CDACDC}"/>
              </a:ext>
            </a:extLst>
          </p:cNvPr>
          <p:cNvSpPr>
            <a:spLocks noGrp="1"/>
          </p:cNvSpPr>
          <p:nvPr/>
        </p:nvSpPr>
        <p:spPr>
          <a:xfrm>
            <a:off x="7048500" y="1600200"/>
            <a:ext cx="558800" cy="558800"/>
          </a:xfrm>
          <a:prstGeom prst="rect">
            <a:avLst/>
          </a:prstGeom>
          <a:ln w="25400">
            <a:solidFill>
              <a:srgbClr val="41515B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-41">
            <a:extLst>
              <a:ext uri="{FF2B5EF4-FFF2-40B4-BE49-F238E27FC236}">
                <a16:creationId xmlns:a16="http://schemas.microsoft.com/office/drawing/2014/main" id="{76D4DABC-2638-4EC4-AFC7-DF9E463DE536}"/>
              </a:ext>
            </a:extLst>
          </p:cNvPr>
          <p:cNvSpPr>
            <a:spLocks noGrp="1"/>
          </p:cNvSpPr>
          <p:nvPr/>
        </p:nvSpPr>
        <p:spPr>
          <a:xfrm>
            <a:off x="7124700" y="1790700"/>
            <a:ext cx="406400" cy="1905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pPr algn="ctr">
              <a:buNone/>
            </a:pPr>
            <a:r>
              <a:rPr sz="2400" b="1">
                <a:solidFill>
                  <a:srgbClr val="17212A"/>
                </a:solidFill>
                <a:latin typeface="Aptos"/>
                <a:ea typeface="Aptos"/>
                <a:cs typeface="Aptos"/>
              </a:rPr>
              <a:t>NT$</a:t>
            </a:r>
          </a:p>
        </p:txBody>
      </p:sp>
      <p:sp>
        <p:nvSpPr>
          <p:cNvPr id="42" name="text-42">
            <a:extLst>
              <a:ext uri="{FF2B5EF4-FFF2-40B4-BE49-F238E27FC236}">
                <a16:creationId xmlns:a16="http://schemas.microsoft.com/office/drawing/2014/main" id="{C24E1A45-FCBD-4835-B8A3-41CF1E8F220F}"/>
              </a:ext>
            </a:extLst>
          </p:cNvPr>
          <p:cNvSpPr>
            <a:spLocks noGrp="1"/>
          </p:cNvSpPr>
          <p:nvPr/>
        </p:nvSpPr>
        <p:spPr>
          <a:xfrm>
            <a:off x="7874000" y="1682750"/>
            <a:ext cx="2857500" cy="2159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r>
              <a:rPr sz="2600" b="1">
                <a:solidFill>
                  <a:srgbClr val="17212A"/>
                </a:solidFill>
                <a:latin typeface="Aptos"/>
                <a:ea typeface="Aptos"/>
                <a:cs typeface="Aptos"/>
              </a:rPr>
              <a:t>極致成本控制</a:t>
            </a:r>
          </a:p>
        </p:txBody>
      </p:sp>
      <p:sp>
        <p:nvSpPr>
          <p:cNvPr id="43" name="text-43">
            <a:extLst>
              <a:ext uri="{FF2B5EF4-FFF2-40B4-BE49-F238E27FC236}">
                <a16:creationId xmlns:a16="http://schemas.microsoft.com/office/drawing/2014/main" id="{3FA68005-2588-4347-A50A-28BBB543DD97}"/>
              </a:ext>
            </a:extLst>
          </p:cNvPr>
          <p:cNvSpPr>
            <a:spLocks noGrp="1"/>
          </p:cNvSpPr>
          <p:nvPr/>
        </p:nvSpPr>
        <p:spPr>
          <a:xfrm>
            <a:off x="7874000" y="1968500"/>
            <a:ext cx="3302000" cy="4953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r>
              <a:rPr sz="1800">
                <a:solidFill>
                  <a:srgbClr val="41515B"/>
                </a:solidFill>
                <a:latin typeface="Aptos"/>
                <a:ea typeface="Aptos"/>
                <a:cs typeface="Aptos"/>
              </a:rPr>
              <a:t>將整套系統硬體成本壓到 NT$1,500 以內，打破商用車機專屬的價格壁壘。</a:t>
            </a:r>
          </a:p>
        </p:txBody>
      </p:sp>
      <p:sp>
        <p:nvSpPr>
          <p:cNvPr id="50" name="pentagon-50">
            <a:extLst>
              <a:ext uri="{FF2B5EF4-FFF2-40B4-BE49-F238E27FC236}">
                <a16:creationId xmlns:a16="http://schemas.microsoft.com/office/drawing/2014/main" id="{345644B6-9F0E-431C-BBD3-712242F58A8B}"/>
              </a:ext>
            </a:extLst>
          </p:cNvPr>
          <p:cNvSpPr>
            <a:spLocks noGrp="1"/>
          </p:cNvSpPr>
          <p:nvPr/>
        </p:nvSpPr>
        <p:spPr>
          <a:xfrm>
            <a:off x="1079500" y="4254500"/>
            <a:ext cx="546100" cy="584200"/>
          </a:xfrm>
          <a:prstGeom prst="pentagon">
            <a:avLst/>
          </a:prstGeom>
          <a:ln w="25400">
            <a:solidFill>
              <a:srgbClr val="20D8D5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line-51">
            <a:extLst>
              <a:ext uri="{FF2B5EF4-FFF2-40B4-BE49-F238E27FC236}">
                <a16:creationId xmlns:a16="http://schemas.microsoft.com/office/drawing/2014/main" id="{AD150828-C21E-4531-AC72-C6CFFA110116}"/>
              </a:ext>
            </a:extLst>
          </p:cNvPr>
          <p:cNvSpPr>
            <a:spLocks noGrp="1"/>
          </p:cNvSpPr>
          <p:nvPr/>
        </p:nvSpPr>
        <p:spPr>
          <a:xfrm rot="2700000">
            <a:off x="1270000" y="4521200"/>
            <a:ext cx="215900" cy="6350"/>
          </a:xfrm>
          <a:prstGeom prst="line">
            <a:avLst/>
          </a:prstGeom>
          <a:ln w="38100">
            <a:solidFill>
              <a:srgbClr val="20D8D5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text-60">
            <a:extLst>
              <a:ext uri="{FF2B5EF4-FFF2-40B4-BE49-F238E27FC236}">
                <a16:creationId xmlns:a16="http://schemas.microsoft.com/office/drawing/2014/main" id="{6AFE701E-09CF-497F-AC89-C5F758B9EC78}"/>
              </a:ext>
            </a:extLst>
          </p:cNvPr>
          <p:cNvSpPr>
            <a:spLocks noGrp="1"/>
          </p:cNvSpPr>
          <p:nvPr/>
        </p:nvSpPr>
        <p:spPr>
          <a:xfrm>
            <a:off x="1936750" y="4318000"/>
            <a:ext cx="2857500" cy="2159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r>
              <a:rPr sz="2600" b="1">
                <a:solidFill>
                  <a:srgbClr val="17212A"/>
                </a:solidFill>
                <a:latin typeface="Aptos"/>
                <a:ea typeface="Aptos"/>
                <a:cs typeface="Aptos"/>
              </a:rPr>
              <a:t>直覺安全防護</a:t>
            </a:r>
          </a:p>
        </p:txBody>
      </p:sp>
      <p:sp>
        <p:nvSpPr>
          <p:cNvPr id="61" name="text-61">
            <a:extLst>
              <a:ext uri="{FF2B5EF4-FFF2-40B4-BE49-F238E27FC236}">
                <a16:creationId xmlns:a16="http://schemas.microsoft.com/office/drawing/2014/main" id="{6ADD6C34-9330-4F77-8666-CDB807376ABA}"/>
              </a:ext>
            </a:extLst>
          </p:cNvPr>
          <p:cNvSpPr>
            <a:spLocks noGrp="1"/>
          </p:cNvSpPr>
          <p:nvPr/>
        </p:nvSpPr>
        <p:spPr>
          <a:xfrm>
            <a:off x="1936750" y="4603750"/>
            <a:ext cx="3302000" cy="4953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r>
              <a:rPr sz="1800">
                <a:solidFill>
                  <a:srgbClr val="41515B"/>
                </a:solidFill>
                <a:latin typeface="Aptos"/>
                <a:ea typeface="Aptos"/>
                <a:cs typeface="Aptos"/>
              </a:rPr>
              <a:t>透過高辨識視覺化警示，有效降低過彎與轉向危險操作。</a:t>
            </a:r>
          </a:p>
        </p:txBody>
      </p:sp>
      <p:sp>
        <p:nvSpPr>
          <p:cNvPr id="70" name="arc-70">
            <a:extLst>
              <a:ext uri="{FF2B5EF4-FFF2-40B4-BE49-F238E27FC236}">
                <a16:creationId xmlns:a16="http://schemas.microsoft.com/office/drawing/2014/main" id="{B40CEBB7-A262-4C86-87FE-3EBFF70D4DEF}"/>
              </a:ext>
            </a:extLst>
          </p:cNvPr>
          <p:cNvSpPr>
            <a:spLocks noGrp="1"/>
          </p:cNvSpPr>
          <p:nvPr/>
        </p:nvSpPr>
        <p:spPr>
          <a:xfrm>
            <a:off x="7048500" y="4318000"/>
            <a:ext cx="622300" cy="469900"/>
          </a:xfrm>
          <a:prstGeom prst="arc">
            <a:avLst/>
          </a:prstGeom>
          <a:ln w="25400">
            <a:solidFill>
              <a:srgbClr val="41515B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1" name="text-71">
            <a:extLst>
              <a:ext uri="{FF2B5EF4-FFF2-40B4-BE49-F238E27FC236}">
                <a16:creationId xmlns:a16="http://schemas.microsoft.com/office/drawing/2014/main" id="{68E0C468-4B1C-4E63-9995-5D6855EE4BBE}"/>
              </a:ext>
            </a:extLst>
          </p:cNvPr>
          <p:cNvSpPr>
            <a:spLocks noGrp="1"/>
          </p:cNvSpPr>
          <p:nvPr/>
        </p:nvSpPr>
        <p:spPr>
          <a:xfrm>
            <a:off x="7874000" y="4318000"/>
            <a:ext cx="2857500" cy="2159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r>
              <a:rPr sz="2600" b="1">
                <a:solidFill>
                  <a:srgbClr val="17212A"/>
                </a:solidFill>
                <a:latin typeface="Aptos"/>
                <a:ea typeface="Aptos"/>
                <a:cs typeface="Aptos"/>
              </a:rPr>
              <a:t>雙載舒適革命</a:t>
            </a:r>
          </a:p>
        </p:txBody>
      </p:sp>
      <p:sp>
        <p:nvSpPr>
          <p:cNvPr id="72" name="text-72">
            <a:extLst>
              <a:ext uri="{FF2B5EF4-FFF2-40B4-BE49-F238E27FC236}">
                <a16:creationId xmlns:a16="http://schemas.microsoft.com/office/drawing/2014/main" id="{20909022-58BE-4127-9448-D71F926DAA9B}"/>
              </a:ext>
            </a:extLst>
          </p:cNvPr>
          <p:cNvSpPr>
            <a:spLocks noGrp="1"/>
          </p:cNvSpPr>
          <p:nvPr/>
        </p:nvSpPr>
        <p:spPr>
          <a:xfrm>
            <a:off x="7874000" y="4603750"/>
            <a:ext cx="3302000" cy="4953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r>
              <a:rPr sz="1800">
                <a:solidFill>
                  <a:srgbClr val="41515B"/>
                </a:solidFill>
                <a:latin typeface="Aptos"/>
                <a:ea typeface="Aptos"/>
                <a:cs typeface="Aptos"/>
              </a:rPr>
              <a:t>透過 Payload Adaptation 提前預警，減少雙載時的突發性晃動與乘車不適。</a:t>
            </a:r>
          </a:p>
        </p:txBody>
      </p:sp>
    </p:spTree>
    <p:extLst>
      <p:ext uri="{BB962C8B-B14F-4D97-AF65-F5344CB8AC3E}">
        <p14:creationId xmlns:p14="http://schemas.microsoft.com/office/powerpoint/2010/main" val="999435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2">
            <a:extLst>
              <a:ext uri="{FF2B5EF4-FFF2-40B4-BE49-F238E27FC236}">
                <a16:creationId xmlns:a16="http://schemas.microsoft.com/office/drawing/2014/main" id="{1750923C-1E5A-476E-8B32-F90FC3B01341}"/>
              </a:ext>
            </a:extLst>
          </p:cNvPr>
          <p:cNvSpPr>
            <a:spLocks noGrp="1"/>
          </p:cNvSpPr>
          <p:nvPr/>
        </p:nvSpPr>
        <p:spPr>
          <a:xfrm>
            <a:off x="730250" y="476250"/>
            <a:ext cx="5461000" cy="3302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r>
              <a:rPr sz="3200" b="1">
                <a:solidFill>
                  <a:srgbClr val="17212A"/>
                </a:solidFill>
                <a:latin typeface="Aptos"/>
                <a:ea typeface="Aptos"/>
                <a:cs typeface="Aptos"/>
              </a:rPr>
              <a:t>未來延伸：從動態監測走向視覺智慧</a:t>
            </a:r>
          </a:p>
        </p:txBody>
      </p:sp>
      <p:sp>
        <p:nvSpPr>
          <p:cNvPr id="10" name="hexagon-10">
            <a:extLst>
              <a:ext uri="{FF2B5EF4-FFF2-40B4-BE49-F238E27FC236}">
                <a16:creationId xmlns:a16="http://schemas.microsoft.com/office/drawing/2014/main" id="{DA8BB763-8DCF-461E-873A-5A1AB1AB7E47}"/>
              </a:ext>
            </a:extLst>
          </p:cNvPr>
          <p:cNvSpPr>
            <a:spLocks noGrp="1"/>
          </p:cNvSpPr>
          <p:nvPr/>
        </p:nvSpPr>
        <p:spPr>
          <a:xfrm>
            <a:off x="1174750" y="2000250"/>
            <a:ext cx="2095500" cy="1809750"/>
          </a:xfrm>
          <a:prstGeom prst="hexagon">
            <a:avLst/>
          </a:prstGeom>
          <a:solidFill>
            <a:srgbClr val="F3F6F5"/>
          </a:solidFill>
          <a:ln w="25400">
            <a:solidFill>
              <a:srgbClr val="41515B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-11">
            <a:extLst>
              <a:ext uri="{FF2B5EF4-FFF2-40B4-BE49-F238E27FC236}">
                <a16:creationId xmlns:a16="http://schemas.microsoft.com/office/drawing/2014/main" id="{8311E26F-9785-43D1-90E9-C0B1F9821329}"/>
              </a:ext>
            </a:extLst>
          </p:cNvPr>
          <p:cNvSpPr>
            <a:spLocks noGrp="1"/>
          </p:cNvSpPr>
          <p:nvPr/>
        </p:nvSpPr>
        <p:spPr>
          <a:xfrm>
            <a:off x="1092200" y="4000500"/>
            <a:ext cx="2286000" cy="4953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pPr algn="ctr">
              <a:buNone/>
            </a:pPr>
            <a:r>
              <a:rPr sz="2200" b="1">
                <a:solidFill>
                  <a:srgbClr val="17212A"/>
                </a:solidFill>
                <a:latin typeface="Aptos"/>
                <a:ea typeface="Aptos"/>
                <a:cs typeface="Aptos"/>
              </a:rPr>
              <a:t>當前階段</a:t>
            </a:r>
          </a:p>
          <a:p>
            <a:pPr algn="ctr">
              <a:buNone/>
            </a:pPr>
            <a:r>
              <a:rPr sz="2200" b="1">
                <a:solidFill>
                  <a:srgbClr val="17212A"/>
                </a:solidFill>
                <a:latin typeface="Aptos"/>
                <a:ea typeface="Aptos"/>
                <a:cs typeface="Aptos"/>
              </a:rPr>
              <a:t>車體自我感知</a:t>
            </a:r>
          </a:p>
          <a:p>
            <a:pPr algn="ctr">
              <a:buNone/>
            </a:pPr>
            <a:r>
              <a:rPr sz="2200" b="1">
                <a:solidFill>
                  <a:srgbClr val="17212A"/>
                </a:solidFill>
                <a:latin typeface="Aptos"/>
                <a:ea typeface="Aptos"/>
                <a:cs typeface="Aptos"/>
              </a:rPr>
              <a:t>(Sensory Dynamics)</a:t>
            </a:r>
          </a:p>
        </p:txBody>
      </p:sp>
      <p:sp>
        <p:nvSpPr>
          <p:cNvPr id="12" name="rect-12">
            <a:extLst>
              <a:ext uri="{FF2B5EF4-FFF2-40B4-BE49-F238E27FC236}">
                <a16:creationId xmlns:a16="http://schemas.microsoft.com/office/drawing/2014/main" id="{B5DE3FE5-8D3D-4B9D-94D8-032C350AF1A0}"/>
              </a:ext>
            </a:extLst>
          </p:cNvPr>
          <p:cNvSpPr>
            <a:spLocks noGrp="1"/>
          </p:cNvSpPr>
          <p:nvPr/>
        </p:nvSpPr>
        <p:spPr>
          <a:xfrm>
            <a:off x="1828800" y="2527300"/>
            <a:ext cx="800100" cy="603250"/>
          </a:xfrm>
          <a:prstGeom prst="rect">
            <a:avLst/>
          </a:prstGeom>
          <a:solidFill>
            <a:srgbClr val="FFFFFF"/>
          </a:solidFill>
          <a:ln w="25400">
            <a:solidFill>
              <a:srgbClr val="41515B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-13">
            <a:extLst>
              <a:ext uri="{FF2B5EF4-FFF2-40B4-BE49-F238E27FC236}">
                <a16:creationId xmlns:a16="http://schemas.microsoft.com/office/drawing/2014/main" id="{17F8FEEC-9624-44D5-800A-BCF1EE2FA96C}"/>
              </a:ext>
            </a:extLst>
          </p:cNvPr>
          <p:cNvSpPr>
            <a:spLocks noGrp="1"/>
          </p:cNvSpPr>
          <p:nvPr/>
        </p:nvSpPr>
        <p:spPr>
          <a:xfrm>
            <a:off x="1993900" y="2717800"/>
            <a:ext cx="495300" cy="2159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pPr algn="ctr">
              <a:buNone/>
            </a:pPr>
            <a:r>
              <a:rPr sz="2500" b="1">
                <a:solidFill>
                  <a:srgbClr val="17212A"/>
                </a:solidFill>
                <a:latin typeface="Aptos"/>
                <a:ea typeface="Aptos"/>
                <a:cs typeface="Aptos"/>
              </a:rPr>
              <a:t>IMU</a:t>
            </a:r>
          </a:p>
        </p:txBody>
      </p:sp>
      <p:cxnSp>
        <p:nvCxnSpPr>
          <p:cNvPr id="14" name="line-20"/>
          <p:cNvCxnSpPr/>
          <p:nvPr/>
        </p:nvCxnSpPr>
        <p:spPr>
          <a:xfrm>
            <a:off x="3333750" y="2901950"/>
            <a:ext cx="1619250" cy="6350"/>
          </a:xfrm>
          <a:prstGeom prst="line">
            <a:avLst/>
          </a:prstGeom>
          <a:ln w="127000">
            <a:solidFill>
              <a:srgbClr val="20D8D5"/>
            </a:solidFill>
            <a:tailEnd type="triangle"/>
          </a:ln>
        </p:spPr>
      </p:cxnSp>
      <p:sp>
        <p:nvSpPr>
          <p:cNvPr id="30" name="diamond-30">
            <a:extLst>
              <a:ext uri="{FF2B5EF4-FFF2-40B4-BE49-F238E27FC236}">
                <a16:creationId xmlns:a16="http://schemas.microsoft.com/office/drawing/2014/main" id="{4FF7A3F8-BFC7-41BC-AF49-B6732F71CC34}"/>
              </a:ext>
            </a:extLst>
          </p:cNvPr>
          <p:cNvSpPr>
            <a:spLocks noGrp="1"/>
          </p:cNvSpPr>
          <p:nvPr/>
        </p:nvSpPr>
        <p:spPr>
          <a:xfrm>
            <a:off x="5111750" y="2317750"/>
            <a:ext cx="1460500" cy="1174750"/>
          </a:xfrm>
          <a:prstGeom prst="diamond">
            <a:avLst/>
          </a:prstGeom>
          <a:solidFill>
            <a:srgbClr val="E6FBFA"/>
          </a:solidFill>
          <a:ln w="38100">
            <a:solidFill>
              <a:srgbClr val="20D8D5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-31">
            <a:extLst>
              <a:ext uri="{FF2B5EF4-FFF2-40B4-BE49-F238E27FC236}">
                <a16:creationId xmlns:a16="http://schemas.microsoft.com/office/drawing/2014/main" id="{BF009A60-A5A9-4912-97DB-056086348043}"/>
              </a:ext>
            </a:extLst>
          </p:cNvPr>
          <p:cNvSpPr>
            <a:spLocks noGrp="1"/>
          </p:cNvSpPr>
          <p:nvPr/>
        </p:nvSpPr>
        <p:spPr>
          <a:xfrm>
            <a:off x="4445000" y="4699000"/>
            <a:ext cx="4445000" cy="2286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pPr algn="ctr">
              <a:buNone/>
            </a:pPr>
            <a:r>
              <a:rPr sz="2400" b="1">
                <a:solidFill>
                  <a:srgbClr val="17212A"/>
                </a:solidFill>
                <a:latin typeface="Aptos"/>
                <a:ea typeface="Aptos"/>
                <a:cs typeface="Aptos"/>
              </a:rPr>
              <a:t>未來展望 (Future Work): Vision Extension</a:t>
            </a:r>
          </a:p>
        </p:txBody>
      </p:sp>
      <p:sp>
        <p:nvSpPr>
          <p:cNvPr id="32" name="text-32">
            <a:extLst>
              <a:ext uri="{FF2B5EF4-FFF2-40B4-BE49-F238E27FC236}">
                <a16:creationId xmlns:a16="http://schemas.microsoft.com/office/drawing/2014/main" id="{33C6E575-0C03-485A-B54E-F0A638064FA8}"/>
              </a:ext>
            </a:extLst>
          </p:cNvPr>
          <p:cNvSpPr>
            <a:spLocks noGrp="1"/>
          </p:cNvSpPr>
          <p:nvPr/>
        </p:nvSpPr>
        <p:spPr>
          <a:xfrm>
            <a:off x="4064000" y="5016500"/>
            <a:ext cx="5111750" cy="5842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pPr algn="ctr">
              <a:buNone/>
            </a:pPr>
            <a:r>
              <a:rPr sz="1800">
                <a:solidFill>
                  <a:srgbClr val="41515B"/>
                </a:solidFill>
                <a:latin typeface="Aptos"/>
                <a:ea typeface="Aptos"/>
                <a:cs typeface="Aptos"/>
              </a:rPr>
              <a:t>預計導入 ESP32 Camera 模組，將防撞偵測向外擴展：前方路面分析、坑洞 / 標線突變、雨天積水環境之機器視覺即時辨識。</a:t>
            </a:r>
          </a:p>
        </p:txBody>
      </p:sp>
      <p:cxnSp>
        <p:nvCxnSpPr>
          <p:cNvPr id="33" name="line-40"/>
          <p:cNvCxnSpPr/>
          <p:nvPr/>
        </p:nvCxnSpPr>
        <p:spPr>
          <a:xfrm>
            <a:off x="6572250" y="2901950"/>
            <a:ext cx="1555750" cy="6350"/>
          </a:xfrm>
          <a:prstGeom prst="line">
            <a:avLst/>
          </a:prstGeom>
          <a:ln w="127000">
            <a:solidFill>
              <a:srgbClr val="20D8D5"/>
            </a:solidFill>
            <a:tailEnd type="triangle"/>
          </a:ln>
        </p:spPr>
      </p:cxnSp>
      <p:sp>
        <p:nvSpPr>
          <p:cNvPr id="50" name="hexagon-50">
            <a:extLst>
              <a:ext uri="{FF2B5EF4-FFF2-40B4-BE49-F238E27FC236}">
                <a16:creationId xmlns:a16="http://schemas.microsoft.com/office/drawing/2014/main" id="{62A93E73-F6F3-4F23-BFB7-48C7C9C58D1F}"/>
              </a:ext>
            </a:extLst>
          </p:cNvPr>
          <p:cNvSpPr>
            <a:spLocks noGrp="1"/>
          </p:cNvSpPr>
          <p:nvPr/>
        </p:nvSpPr>
        <p:spPr>
          <a:xfrm>
            <a:off x="8445500" y="1936750"/>
            <a:ext cx="2286000" cy="2000250"/>
          </a:xfrm>
          <a:prstGeom prst="hexagon">
            <a:avLst/>
          </a:prstGeom>
          <a:solidFill>
            <a:srgbClr val="F3F6F5"/>
          </a:solidFill>
          <a:ln w="25400">
            <a:solidFill>
              <a:srgbClr val="41515B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ellipse-51">
            <a:extLst>
              <a:ext uri="{FF2B5EF4-FFF2-40B4-BE49-F238E27FC236}">
                <a16:creationId xmlns:a16="http://schemas.microsoft.com/office/drawing/2014/main" id="{E6B957FE-DC88-462B-9F83-C5350E7C9DC0}"/>
              </a:ext>
            </a:extLst>
          </p:cNvPr>
          <p:cNvSpPr>
            <a:spLocks noGrp="1"/>
          </p:cNvSpPr>
          <p:nvPr/>
        </p:nvSpPr>
        <p:spPr>
          <a:xfrm>
            <a:off x="9017000" y="2286000"/>
            <a:ext cx="1143000" cy="1143000"/>
          </a:xfrm>
          <a:prstGeom prst="ellipse">
            <a:avLst/>
          </a:prstGeom>
          <a:solidFill>
            <a:srgbClr val="DDE5E6"/>
          </a:solidFill>
          <a:ln w="38100">
            <a:solidFill>
              <a:srgbClr val="41515B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ellipse-52">
            <a:extLst>
              <a:ext uri="{FF2B5EF4-FFF2-40B4-BE49-F238E27FC236}">
                <a16:creationId xmlns:a16="http://schemas.microsoft.com/office/drawing/2014/main" id="{25B66BAB-D37C-4FBA-BB26-3642E02EC50A}"/>
              </a:ext>
            </a:extLst>
          </p:cNvPr>
          <p:cNvSpPr>
            <a:spLocks noGrp="1"/>
          </p:cNvSpPr>
          <p:nvPr/>
        </p:nvSpPr>
        <p:spPr>
          <a:xfrm>
            <a:off x="9334500" y="2603500"/>
            <a:ext cx="508000" cy="508000"/>
          </a:xfrm>
          <a:prstGeom prst="ellipse">
            <a:avLst/>
          </a:prstGeom>
          <a:solidFill>
            <a:srgbClr val="26323A"/>
          </a:solidFill>
          <a:ln w="25400">
            <a:solidFill>
              <a:srgbClr val="20D8D5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text-53">
            <a:extLst>
              <a:ext uri="{FF2B5EF4-FFF2-40B4-BE49-F238E27FC236}">
                <a16:creationId xmlns:a16="http://schemas.microsoft.com/office/drawing/2014/main" id="{F06E89BA-79A5-4008-8C24-7D450403FF55}"/>
              </a:ext>
            </a:extLst>
          </p:cNvPr>
          <p:cNvSpPr>
            <a:spLocks noGrp="1"/>
          </p:cNvSpPr>
          <p:nvPr/>
        </p:nvSpPr>
        <p:spPr>
          <a:xfrm>
            <a:off x="8382000" y="4000500"/>
            <a:ext cx="2413000" cy="4953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pPr algn="ctr">
              <a:buNone/>
            </a:pPr>
            <a:r>
              <a:rPr sz="2200" b="1">
                <a:solidFill>
                  <a:srgbClr val="17212A"/>
                </a:solidFill>
                <a:latin typeface="Aptos"/>
                <a:ea typeface="Aptos"/>
                <a:cs typeface="Aptos"/>
              </a:rPr>
              <a:t>次世代升級</a:t>
            </a:r>
          </a:p>
          <a:p>
            <a:pPr algn="ctr">
              <a:buNone/>
            </a:pPr>
            <a:r>
              <a:rPr sz="2200" b="1">
                <a:solidFill>
                  <a:srgbClr val="17212A"/>
                </a:solidFill>
                <a:latin typeface="Aptos"/>
                <a:ea typeface="Aptos"/>
                <a:cs typeface="Aptos"/>
              </a:rPr>
              <a:t>外部環境預測</a:t>
            </a:r>
          </a:p>
          <a:p>
            <a:pPr algn="ctr">
              <a:buNone/>
            </a:pPr>
            <a:r>
              <a:rPr sz="2200" b="1">
                <a:solidFill>
                  <a:srgbClr val="17212A"/>
                </a:solidFill>
                <a:latin typeface="Aptos"/>
                <a:ea typeface="Aptos"/>
                <a:cs typeface="Aptos"/>
              </a:rPr>
              <a:t>(Visual Intelligence)</a:t>
            </a:r>
          </a:p>
        </p:txBody>
      </p:sp>
    </p:spTree>
    <p:extLst>
      <p:ext uri="{BB962C8B-B14F-4D97-AF65-F5344CB8AC3E}">
        <p14:creationId xmlns:p14="http://schemas.microsoft.com/office/powerpoint/2010/main" val="1716960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9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-2">
            <a:extLst>
              <a:ext uri="{FF2B5EF4-FFF2-40B4-BE49-F238E27FC236}">
                <a16:creationId xmlns:a16="http://schemas.microsoft.com/office/drawing/2014/main" id="{3E542689-991E-4A42-AA22-4F9D094373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922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rect-3">
            <a:extLst>
              <a:ext uri="{FF2B5EF4-FFF2-40B4-BE49-F238E27FC236}">
                <a16:creationId xmlns:a16="http://schemas.microsoft.com/office/drawing/2014/main" id="{B94DC0AB-BD58-4B83-969E-50F560642F59}"/>
              </a:ext>
            </a:extLst>
          </p:cNvPr>
          <p:cNvSpPr>
            <a:spLocks noGrp="1"/>
          </p:cNvSpPr>
          <p:nvPr/>
        </p:nvSpPr>
        <p:spPr>
          <a:xfrm>
            <a:off x="0" y="4572000"/>
            <a:ext cx="12192000" cy="444500"/>
          </a:xfrm>
          <a:prstGeom prst="rect">
            <a:avLst/>
          </a:prstGeom>
          <a:solidFill>
            <a:srgbClr val="143740"/>
          </a:solidFill>
          <a:ln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ellipse-10">
            <a:extLst>
              <a:ext uri="{FF2B5EF4-FFF2-40B4-BE49-F238E27FC236}">
                <a16:creationId xmlns:a16="http://schemas.microsoft.com/office/drawing/2014/main" id="{1D567CFD-85C4-4C59-B6F0-6EE7FE31F850}"/>
              </a:ext>
            </a:extLst>
          </p:cNvPr>
          <p:cNvSpPr>
            <a:spLocks noGrp="1"/>
          </p:cNvSpPr>
          <p:nvPr/>
        </p:nvSpPr>
        <p:spPr>
          <a:xfrm>
            <a:off x="6572250" y="2382838"/>
            <a:ext cx="422275" cy="422275"/>
          </a:xfrm>
          <a:prstGeom prst="ellipse">
            <a:avLst/>
          </a:prstGeom>
          <a:ln w="38100">
            <a:solidFill>
              <a:srgbClr val="20D8D5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ellipse-11">
            <a:extLst>
              <a:ext uri="{FF2B5EF4-FFF2-40B4-BE49-F238E27FC236}">
                <a16:creationId xmlns:a16="http://schemas.microsoft.com/office/drawing/2014/main" id="{2CE43FFA-F296-45DB-9AB5-1CCEA23E46B3}"/>
              </a:ext>
            </a:extLst>
          </p:cNvPr>
          <p:cNvSpPr>
            <a:spLocks noGrp="1"/>
          </p:cNvSpPr>
          <p:nvPr/>
        </p:nvSpPr>
        <p:spPr>
          <a:xfrm>
            <a:off x="8080375" y="2382838"/>
            <a:ext cx="422275" cy="422275"/>
          </a:xfrm>
          <a:prstGeom prst="ellipse">
            <a:avLst/>
          </a:prstGeom>
          <a:ln w="38100">
            <a:solidFill>
              <a:srgbClr val="20D8D5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line-12">
            <a:extLst>
              <a:ext uri="{FF2B5EF4-FFF2-40B4-BE49-F238E27FC236}">
                <a16:creationId xmlns:a16="http://schemas.microsoft.com/office/drawing/2014/main" id="{E0617C9B-610D-4B0C-89EE-925EA325CE20}"/>
              </a:ext>
            </a:extLst>
          </p:cNvPr>
          <p:cNvSpPr>
            <a:spLocks noGrp="1"/>
          </p:cNvSpPr>
          <p:nvPr/>
        </p:nvSpPr>
        <p:spPr>
          <a:xfrm flipV="1">
            <a:off x="6783388" y="2141538"/>
            <a:ext cx="754063" cy="452438"/>
          </a:xfrm>
          <a:prstGeom prst="line">
            <a:avLst/>
          </a:prstGeom>
          <a:ln w="38100">
            <a:solidFill>
              <a:srgbClr val="20D8D5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line-13">
            <a:extLst>
              <a:ext uri="{FF2B5EF4-FFF2-40B4-BE49-F238E27FC236}">
                <a16:creationId xmlns:a16="http://schemas.microsoft.com/office/drawing/2014/main" id="{940B1D3F-8FA2-4904-80C3-0D4B3CA3A870}"/>
              </a:ext>
            </a:extLst>
          </p:cNvPr>
          <p:cNvSpPr>
            <a:spLocks noGrp="1"/>
          </p:cNvSpPr>
          <p:nvPr/>
        </p:nvSpPr>
        <p:spPr>
          <a:xfrm>
            <a:off x="7537450" y="2141538"/>
            <a:ext cx="754063" cy="452438"/>
          </a:xfrm>
          <a:prstGeom prst="line">
            <a:avLst/>
          </a:prstGeom>
          <a:ln w="38100">
            <a:solidFill>
              <a:srgbClr val="20D8D5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line-14">
            <a:extLst>
              <a:ext uri="{FF2B5EF4-FFF2-40B4-BE49-F238E27FC236}">
                <a16:creationId xmlns:a16="http://schemas.microsoft.com/office/drawing/2014/main" id="{28F5B4EE-CEEE-4163-B290-FA7848EB4DBD}"/>
              </a:ext>
            </a:extLst>
          </p:cNvPr>
          <p:cNvSpPr>
            <a:spLocks noGrp="1"/>
          </p:cNvSpPr>
          <p:nvPr/>
        </p:nvSpPr>
        <p:spPr>
          <a:xfrm>
            <a:off x="7006590" y="2593975"/>
            <a:ext cx="1073785" cy="6350"/>
          </a:xfrm>
          <a:prstGeom prst="line">
            <a:avLst/>
          </a:prstGeom>
          <a:ln w="38100">
            <a:solidFill>
              <a:srgbClr val="20D8D5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line-15">
            <a:extLst>
              <a:ext uri="{FF2B5EF4-FFF2-40B4-BE49-F238E27FC236}">
                <a16:creationId xmlns:a16="http://schemas.microsoft.com/office/drawing/2014/main" id="{654AC7FF-20BC-4C62-A107-37B84770E1D4}"/>
              </a:ext>
            </a:extLst>
          </p:cNvPr>
          <p:cNvSpPr>
            <a:spLocks noGrp="1"/>
          </p:cNvSpPr>
          <p:nvPr/>
        </p:nvSpPr>
        <p:spPr>
          <a:xfrm flipV="1">
            <a:off x="7446963" y="1930400"/>
            <a:ext cx="392113" cy="241300"/>
          </a:xfrm>
          <a:prstGeom prst="line">
            <a:avLst/>
          </a:prstGeom>
          <a:ln w="38100">
            <a:solidFill>
              <a:srgbClr val="20D8D5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line-16">
            <a:extLst>
              <a:ext uri="{FF2B5EF4-FFF2-40B4-BE49-F238E27FC236}">
                <a16:creationId xmlns:a16="http://schemas.microsoft.com/office/drawing/2014/main" id="{CE938403-8BB8-42B5-8E1D-5ADC007EBAC5}"/>
              </a:ext>
            </a:extLst>
          </p:cNvPr>
          <p:cNvSpPr>
            <a:spLocks noGrp="1"/>
          </p:cNvSpPr>
          <p:nvPr/>
        </p:nvSpPr>
        <p:spPr>
          <a:xfrm flipV="1">
            <a:off x="7839075" y="1906270"/>
            <a:ext cx="603250" cy="24130"/>
          </a:xfrm>
          <a:prstGeom prst="line">
            <a:avLst/>
          </a:prstGeom>
          <a:ln w="38100">
            <a:solidFill>
              <a:srgbClr val="20D8D5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line-17">
            <a:extLst>
              <a:ext uri="{FF2B5EF4-FFF2-40B4-BE49-F238E27FC236}">
                <a16:creationId xmlns:a16="http://schemas.microsoft.com/office/drawing/2014/main" id="{A8E0A063-5242-4E5C-9541-CD9C31E44C05}"/>
              </a:ext>
            </a:extLst>
          </p:cNvPr>
          <p:cNvSpPr>
            <a:spLocks noGrp="1"/>
          </p:cNvSpPr>
          <p:nvPr/>
        </p:nvSpPr>
        <p:spPr>
          <a:xfrm>
            <a:off x="8297545" y="2051050"/>
            <a:ext cx="205105" cy="313690"/>
          </a:xfrm>
          <a:prstGeom prst="line">
            <a:avLst/>
          </a:prstGeom>
          <a:ln w="38100">
            <a:solidFill>
              <a:srgbClr val="20D8D5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line-18">
            <a:extLst>
              <a:ext uri="{FF2B5EF4-FFF2-40B4-BE49-F238E27FC236}">
                <a16:creationId xmlns:a16="http://schemas.microsoft.com/office/drawing/2014/main" id="{95AF4518-E3B0-4E73-88C4-DF399EEE42FB}"/>
              </a:ext>
            </a:extLst>
          </p:cNvPr>
          <p:cNvSpPr>
            <a:spLocks noGrp="1"/>
          </p:cNvSpPr>
          <p:nvPr/>
        </p:nvSpPr>
        <p:spPr>
          <a:xfrm flipV="1">
            <a:off x="6994525" y="2063115"/>
            <a:ext cx="253365" cy="289560"/>
          </a:xfrm>
          <a:prstGeom prst="line">
            <a:avLst/>
          </a:prstGeom>
          <a:ln w="38100">
            <a:solidFill>
              <a:srgbClr val="20D8D5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rect-19">
            <a:extLst>
              <a:ext uri="{FF2B5EF4-FFF2-40B4-BE49-F238E27FC236}">
                <a16:creationId xmlns:a16="http://schemas.microsoft.com/office/drawing/2014/main" id="{F663D008-913A-441A-9E26-ADF78AE03FD0}"/>
              </a:ext>
            </a:extLst>
          </p:cNvPr>
          <p:cNvSpPr>
            <a:spLocks noGrp="1"/>
          </p:cNvSpPr>
          <p:nvPr/>
        </p:nvSpPr>
        <p:spPr>
          <a:xfrm>
            <a:off x="7356475" y="2340610"/>
            <a:ext cx="422275" cy="253365"/>
          </a:xfrm>
          <a:prstGeom prst="rect">
            <a:avLst/>
          </a:prstGeom>
          <a:solidFill>
            <a:srgbClr val="15333A"/>
          </a:solidFill>
          <a:ln w="38100">
            <a:solidFill>
              <a:srgbClr val="20D8D5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ellipse-20">
            <a:extLst>
              <a:ext uri="{FF2B5EF4-FFF2-40B4-BE49-F238E27FC236}">
                <a16:creationId xmlns:a16="http://schemas.microsoft.com/office/drawing/2014/main" id="{9272BA82-4659-45B4-AF03-7659331E2A62}"/>
              </a:ext>
            </a:extLst>
          </p:cNvPr>
          <p:cNvSpPr>
            <a:spLocks noGrp="1"/>
          </p:cNvSpPr>
          <p:nvPr/>
        </p:nvSpPr>
        <p:spPr>
          <a:xfrm>
            <a:off x="7609840" y="2521585"/>
            <a:ext cx="217170" cy="217170"/>
          </a:xfrm>
          <a:prstGeom prst="ellipse">
            <a:avLst/>
          </a:prstGeom>
          <a:solidFill>
            <a:srgbClr val="20D8D5"/>
          </a:solidFill>
          <a:ln w="12700">
            <a:solidFill>
              <a:srgbClr val="7BF2EE"/>
            </a:solidFill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text-40">
            <a:extLst>
              <a:ext uri="{FF2B5EF4-FFF2-40B4-BE49-F238E27FC236}">
                <a16:creationId xmlns:a16="http://schemas.microsoft.com/office/drawing/2014/main" id="{5DBAB033-BD1C-4BFE-B048-27F6D19AC317}"/>
              </a:ext>
            </a:extLst>
          </p:cNvPr>
          <p:cNvSpPr>
            <a:spLocks noGrp="1"/>
          </p:cNvSpPr>
          <p:nvPr/>
        </p:nvSpPr>
        <p:spPr>
          <a:xfrm>
            <a:off x="3937000" y="4476750"/>
            <a:ext cx="4445000" cy="2032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pPr algn="ctr">
              <a:buNone/>
            </a:pPr>
            <a:r>
              <a:rPr sz="1600">
                <a:solidFill>
                  <a:srgbClr val="A8BDC2"/>
                </a:solidFill>
                <a:latin typeface="Aptos"/>
                <a:ea typeface="Aptos"/>
                <a:cs typeface="Aptos"/>
              </a:rPr>
              <a:t>基於 ESP32 之智慧機車動態監測與安全預警系統</a:t>
            </a:r>
          </a:p>
        </p:txBody>
      </p:sp>
      <p:sp>
        <p:nvSpPr>
          <p:cNvPr id="41" name="text-41">
            <a:extLst>
              <a:ext uri="{FF2B5EF4-FFF2-40B4-BE49-F238E27FC236}">
                <a16:creationId xmlns:a16="http://schemas.microsoft.com/office/drawing/2014/main" id="{E7EC9191-1842-46D8-94FF-AF61ADD811C4}"/>
              </a:ext>
            </a:extLst>
          </p:cNvPr>
          <p:cNvSpPr>
            <a:spLocks noGrp="1"/>
          </p:cNvSpPr>
          <p:nvPr/>
        </p:nvSpPr>
        <p:spPr>
          <a:xfrm>
            <a:off x="2159000" y="4857750"/>
            <a:ext cx="7874000" cy="4572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pPr algn="ctr">
              <a:buNone/>
            </a:pPr>
            <a:r>
              <a:rPr sz="4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「讓每一次騎乘，都有一位懂你的隱形副駕。」</a:t>
            </a:r>
          </a:p>
        </p:txBody>
      </p:sp>
      <p:sp>
        <p:nvSpPr>
          <p:cNvPr id="42" name="text-42">
            <a:extLst>
              <a:ext uri="{FF2B5EF4-FFF2-40B4-BE49-F238E27FC236}">
                <a16:creationId xmlns:a16="http://schemas.microsoft.com/office/drawing/2014/main" id="{BC3E8A44-6DAA-45FC-848E-8D064742245C}"/>
              </a:ext>
            </a:extLst>
          </p:cNvPr>
          <p:cNvSpPr>
            <a:spLocks noGrp="1"/>
          </p:cNvSpPr>
          <p:nvPr/>
        </p:nvSpPr>
        <p:spPr>
          <a:xfrm>
            <a:off x="5080000" y="5588000"/>
            <a:ext cx="2032000" cy="215900"/>
          </a:xfrm>
          <a:prstGeom prst="rect">
            <a:avLst/>
          </a:prstGeom>
          <a:noFill/>
          <a:ln>
            <a:noFill/>
          </a:ln>
        </p:spPr>
        <p:txBody>
          <a:bodyPr wrap="square" lIns="25400" tIns="19050" rIns="25400" bIns="19050"/>
          <a:lstStyle/>
          <a:p>
            <a:pPr algn="ctr">
              <a:buNone/>
            </a:pPr>
            <a:r>
              <a:rPr sz="1900">
                <a:solidFill>
                  <a:srgbClr val="95AAB0"/>
                </a:solidFill>
                <a:latin typeface="Aptos"/>
                <a:ea typeface="Aptos"/>
                <a:cs typeface="Aptos"/>
              </a:rPr>
              <a:t>開放問答與技術交流</a:t>
            </a:r>
          </a:p>
        </p:txBody>
      </p:sp>
    </p:spTree>
    <p:extLst>
      <p:ext uri="{BB962C8B-B14F-4D97-AF65-F5344CB8AC3E}">
        <p14:creationId xmlns:p14="http://schemas.microsoft.com/office/powerpoint/2010/main" val="1291435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333</Words>
  <Application>Microsoft Office PowerPoint</Application>
  <DocSecurity>0</DocSecurity>
  <PresentationFormat>自訂</PresentationFormat>
  <Paragraphs>85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Office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陳翊家 CHEN,YI-CHIA</cp:lastModifiedBy>
  <cp:revision>2</cp:revision>
  <dcterms:created xsi:type="dcterms:W3CDTF">2026-05-18T07:50:04Z</dcterms:created>
  <dcterms:modified xsi:type="dcterms:W3CDTF">2026-05-19T09:11:16Z</dcterms:modified>
</cp:coreProperties>
</file>